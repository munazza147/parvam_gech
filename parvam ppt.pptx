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96" r:id="rId1"/>
  </p:sldMasterIdLst>
  <p:notesMasterIdLst>
    <p:notesMasterId r:id="rId14"/>
  </p:notesMasterIdLst>
  <p:sldIdLst>
    <p:sldId id="266" r:id="rId2"/>
    <p:sldId id="267" r:id="rId3"/>
    <p:sldId id="256" r:id="rId4"/>
    <p:sldId id="257" r:id="rId5"/>
    <p:sldId id="258" r:id="rId6"/>
    <p:sldId id="259" r:id="rId7"/>
    <p:sldId id="260" r:id="rId8"/>
    <p:sldId id="261" r:id="rId9"/>
    <p:sldId id="262" r:id="rId10"/>
    <p:sldId id="263" r:id="rId11"/>
    <p:sldId id="264" r:id="rId12"/>
    <p:sldId id="265" r:id="rId13"/>
  </p:sldIdLst>
  <p:sldSz cx="18288000" cy="10287000"/>
  <p:notesSz cx="6858000" cy="9144000"/>
  <p:embeddedFontLst>
    <p:embeddedFont>
      <p:font typeface="Lato Bold" charset="0"/>
      <p:regular r:id="rId15"/>
    </p:embeddedFont>
    <p:embeddedFont>
      <p:font typeface="Trebuchet MS" pitchFamily="34" charset="0"/>
      <p:regular r:id="rId16"/>
      <p:bold r:id="rId17"/>
      <p:italic r:id="rId18"/>
      <p:boldItalic r:id="rId19"/>
    </p:embeddedFont>
    <p:embeddedFont>
      <p:font typeface="Wingdings 2" pitchFamily="18" charset="2"/>
      <p:regular r:id="rId20"/>
    </p:embeddedFont>
    <p:embeddedFont>
      <p:font typeface="Lato" charset="0"/>
      <p:regular r:id="rId21"/>
    </p:embeddedFont>
    <p:embeddedFont>
      <p:font typeface="Calibri" pitchFamily="34" charset="0"/>
      <p:regular r:id="rId22"/>
      <p:bold r:id="rId23"/>
      <p:italic r:id="rId24"/>
      <p:boldItalic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autoAdjust="0"/>
    <p:restoredTop sz="94622" autoAdjust="0"/>
  </p:normalViewPr>
  <p:slideViewPr>
    <p:cSldViewPr>
      <p:cViewPr varScale="1">
        <p:scale>
          <a:sx n="44" d="100"/>
          <a:sy n="44" d="100"/>
        </p:scale>
        <p:origin x="-876" y="-1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pPr/>
              <a:t>19.05.2025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pPr/>
              <a:t>‹#›</a:t>
            </a:fld>
            <a:endParaRPr lang="cs-CZ"/>
          </a:p>
        </p:txBody>
      </p:sp>
    </p:spTree>
    <p:extLst>
      <p:ext uri="{BB962C8B-B14F-4D97-AF65-F5344CB8AC3E}">
        <p14:creationId xmlns:p14="http://schemas.microsoft.com/office/powerpoint/2010/main" xmlns=""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8" name="Rectangle 7"/>
          <p:cNvSpPr/>
          <p:nvPr/>
        </p:nvSpPr>
        <p:spPr>
          <a:xfrm flipH="1">
            <a:off x="5334000" y="0"/>
            <a:ext cx="12954000" cy="10287000"/>
          </a:xfrm>
          <a:prstGeom prst="rect">
            <a:avLst/>
          </a:prstGeom>
          <a:blipFill>
            <a:blip r:embed="rId2">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lIns="163284" tIns="81642" rIns="163284" bIns="81642" anchor="ctr"/>
          <a:lstStyle>
            <a:extLst/>
          </a:lstStyle>
          <a:p>
            <a:pPr algn="ctr" eaLnBrk="1" latinLnBrk="0" hangingPunct="1"/>
            <a:endParaRPr kumimoji="0" lang="en-US"/>
          </a:p>
        </p:txBody>
      </p:sp>
      <p:sp>
        <p:nvSpPr>
          <p:cNvPr id="9" name="Straight Connector 8"/>
          <p:cNvSpPr>
            <a:spLocks noChangeShapeType="1"/>
          </p:cNvSpPr>
          <p:nvPr/>
        </p:nvSpPr>
        <p:spPr bwMode="auto">
          <a:xfrm rot="16200000">
            <a:off x="190500" y="5143500"/>
            <a:ext cx="10287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163284" tIns="81642" rIns="163284" bIns="81642" anchor="t" compatLnSpc="1"/>
          <a:lstStyle>
            <a:extLst/>
          </a:lstStyle>
          <a:p>
            <a:endParaRPr kumimoji="0" lang="en-US"/>
          </a:p>
        </p:txBody>
      </p:sp>
      <p:sp>
        <p:nvSpPr>
          <p:cNvPr id="12" name="Title 11"/>
          <p:cNvSpPr>
            <a:spLocks noGrp="1"/>
          </p:cNvSpPr>
          <p:nvPr>
            <p:ph type="ctrTitle"/>
          </p:nvPr>
        </p:nvSpPr>
        <p:spPr>
          <a:xfrm>
            <a:off x="6733736" y="800100"/>
            <a:ext cx="10210800" cy="4302252"/>
          </a:xfrm>
        </p:spPr>
        <p:txBody>
          <a:bodyPr lIns="81642" tIns="0" rIns="81642">
            <a:noAutofit/>
          </a:bodyPr>
          <a:lstStyle>
            <a:lvl1pPr algn="r">
              <a:defRPr sz="7500" b="1"/>
            </a:lvl1pPr>
            <a:extLst/>
          </a:lstStyle>
          <a:p>
            <a:r>
              <a:rPr kumimoji="0" lang="en-US" smtClean="0"/>
              <a:t>Click to edit Master title style</a:t>
            </a:r>
            <a:endParaRPr kumimoji="0" lang="en-US"/>
          </a:p>
        </p:txBody>
      </p:sp>
      <p:sp>
        <p:nvSpPr>
          <p:cNvPr id="25" name="Subtitle 24"/>
          <p:cNvSpPr>
            <a:spLocks noGrp="1"/>
          </p:cNvSpPr>
          <p:nvPr>
            <p:ph type="subTitle" idx="1"/>
          </p:nvPr>
        </p:nvSpPr>
        <p:spPr>
          <a:xfrm>
            <a:off x="6708884" y="5309796"/>
            <a:ext cx="10229556" cy="1651872"/>
          </a:xfrm>
        </p:spPr>
        <p:txBody>
          <a:bodyPr lIns="81642" tIns="0" rIns="81642" bIns="0"/>
          <a:lstStyle>
            <a:lvl1pPr marL="0" indent="0" algn="r">
              <a:buNone/>
              <a:defRPr sz="3900">
                <a:solidFill>
                  <a:srgbClr val="FFFFFF"/>
                </a:solidFill>
                <a:effectLst/>
              </a:defRPr>
            </a:lvl1pPr>
            <a:lvl2pPr marL="816422" indent="0" algn="ctr">
              <a:buNone/>
            </a:lvl2pPr>
            <a:lvl3pPr marL="1632844" indent="0" algn="ctr">
              <a:buNone/>
            </a:lvl3pPr>
            <a:lvl4pPr marL="2449266" indent="0" algn="ctr">
              <a:buNone/>
            </a:lvl4pPr>
            <a:lvl5pPr marL="3265688" indent="0" algn="ctr">
              <a:buNone/>
            </a:lvl5pPr>
            <a:lvl6pPr marL="4082110" indent="0" algn="ctr">
              <a:buNone/>
            </a:lvl6pPr>
            <a:lvl7pPr marL="4898532" indent="0" algn="ctr">
              <a:buNone/>
            </a:lvl7pPr>
            <a:lvl8pPr marL="5714954" indent="0" algn="ctr">
              <a:buNone/>
            </a:lvl8pPr>
            <a:lvl9pPr marL="6531376" indent="0" algn="ctr">
              <a:buNone/>
            </a:lvl9pPr>
            <a:extLst/>
          </a:lstStyle>
          <a:p>
            <a:r>
              <a:rPr kumimoji="0" lang="en-US" smtClean="0"/>
              <a:t>Click to edit Master subtitle style</a:t>
            </a:r>
            <a:endParaRPr kumimoji="0" lang="en-US"/>
          </a:p>
        </p:txBody>
      </p:sp>
      <p:sp>
        <p:nvSpPr>
          <p:cNvPr id="31" name="Date Placeholder 30"/>
          <p:cNvSpPr>
            <a:spLocks noGrp="1"/>
          </p:cNvSpPr>
          <p:nvPr>
            <p:ph type="dt" sz="half" idx="10"/>
          </p:nvPr>
        </p:nvSpPr>
        <p:spPr>
          <a:xfrm>
            <a:off x="11742448" y="9836919"/>
            <a:ext cx="4004928" cy="340353"/>
          </a:xfrm>
        </p:spPr>
        <p:txBody>
          <a:bodyPr/>
          <a:lstStyle>
            <a:lvl1pPr>
              <a:defRPr lang="en-US" smtClean="0">
                <a:solidFill>
                  <a:srgbClr val="FFFFFF"/>
                </a:solidFill>
              </a:defRPr>
            </a:lvl1pPr>
            <a:extLst/>
          </a:lstStyle>
          <a:p>
            <a:fld id="{1D8BD707-D9CF-40AE-B4C6-C98DA3205C09}" type="datetimeFigureOut">
              <a:rPr lang="en-US" smtClean="0"/>
              <a:pPr/>
              <a:t>5/19/2025</a:t>
            </a:fld>
            <a:endParaRPr lang="en-US"/>
          </a:p>
        </p:txBody>
      </p:sp>
      <p:sp>
        <p:nvSpPr>
          <p:cNvPr id="18" name="Footer Placeholder 17"/>
          <p:cNvSpPr>
            <a:spLocks noGrp="1"/>
          </p:cNvSpPr>
          <p:nvPr>
            <p:ph type="ftr" sz="quarter" idx="11"/>
          </p:nvPr>
        </p:nvSpPr>
        <p:spPr>
          <a:xfrm>
            <a:off x="5638800" y="9836919"/>
            <a:ext cx="5855444" cy="342900"/>
          </a:xfrm>
        </p:spPr>
        <p:txBody>
          <a:bodyPr/>
          <a:lstStyle>
            <a:lvl1pPr>
              <a:defRPr lang="en-US" dirty="0">
                <a:solidFill>
                  <a:srgbClr val="FFFFFF"/>
                </a:solidFill>
              </a:defRPr>
            </a:lvl1pPr>
            <a:extLst/>
          </a:lstStyle>
          <a:p>
            <a:endParaRPr lang="en-US"/>
          </a:p>
        </p:txBody>
      </p:sp>
      <p:sp>
        <p:nvSpPr>
          <p:cNvPr id="29" name="Slide Number Placeholder 28"/>
          <p:cNvSpPr>
            <a:spLocks noGrp="1"/>
          </p:cNvSpPr>
          <p:nvPr>
            <p:ph type="sldNum" sz="quarter" idx="12"/>
          </p:nvPr>
        </p:nvSpPr>
        <p:spPr>
          <a:xfrm>
            <a:off x="15761768" y="9834372"/>
            <a:ext cx="1176672" cy="342900"/>
          </a:xfrm>
        </p:spPr>
        <p:txBody>
          <a:bodyPr/>
          <a:lstStyle>
            <a:lvl1pPr>
              <a:defRPr lang="en-US" smtClean="0">
                <a:solidFill>
                  <a:srgbClr val="FFFFFF"/>
                </a:solidFill>
              </a:defRPr>
            </a:lvl1pPr>
            <a:extLst/>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5/19/2025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133600" y="4232756"/>
            <a:ext cx="12510976" cy="2043113"/>
          </a:xfrm>
        </p:spPr>
        <p:txBody>
          <a:bodyPr tIns="0" anchor="t"/>
          <a:lstStyle>
            <a:lvl1pPr algn="r">
              <a:buNone/>
              <a:defRPr sz="75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133600" y="2857501"/>
            <a:ext cx="12510976" cy="1115261"/>
          </a:xfrm>
        </p:spPr>
        <p:txBody>
          <a:bodyPr anchor="b"/>
          <a:lstStyle>
            <a:lvl1pPr marL="0" indent="0" algn="r">
              <a:buNone/>
              <a:defRPr sz="3600">
                <a:solidFill>
                  <a:schemeClr val="tx1"/>
                </a:solidFill>
                <a:effectLst/>
              </a:defRPr>
            </a:lvl1pPr>
            <a:lvl2pPr>
              <a:buNone/>
              <a:defRPr sz="3200">
                <a:solidFill>
                  <a:schemeClr val="tx1">
                    <a:tint val="75000"/>
                  </a:schemeClr>
                </a:solidFill>
              </a:defRPr>
            </a:lvl2pPr>
            <a:lvl3pPr>
              <a:buNone/>
              <a:defRPr sz="2900">
                <a:solidFill>
                  <a:schemeClr val="tx1">
                    <a:tint val="75000"/>
                  </a:schemeClr>
                </a:solidFill>
              </a:defRPr>
            </a:lvl3pPr>
            <a:lvl4pPr>
              <a:buNone/>
              <a:defRPr sz="2500">
                <a:solidFill>
                  <a:schemeClr val="tx1">
                    <a:tint val="75000"/>
                  </a:schemeClr>
                </a:solidFill>
              </a:defRPr>
            </a:lvl4pPr>
            <a:lvl5pPr>
              <a:buNone/>
              <a:defRPr sz="25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9448476" y="9835215"/>
            <a:ext cx="4004928" cy="340353"/>
          </a:xfrm>
        </p:spPr>
        <p:txBody>
          <a:bodyPr bIns="0" anchor="b"/>
          <a:lstStyle>
            <a:lvl1pPr>
              <a:defRPr>
                <a:solidFill>
                  <a:schemeClr val="tx2"/>
                </a:solidFill>
              </a:defRPr>
            </a:lvl1pPr>
            <a:extLst/>
          </a:lstStyle>
          <a:p>
            <a:fld id="{1D8BD707-D9CF-40AE-B4C6-C98DA3205C09}" type="datetimeFigureOut">
              <a:rPr lang="en-US" smtClean="0"/>
              <a:pPr/>
              <a:t>5/19/2025</a:t>
            </a:fld>
            <a:endParaRPr lang="en-US"/>
          </a:p>
        </p:txBody>
      </p:sp>
      <p:sp>
        <p:nvSpPr>
          <p:cNvPr id="5" name="Footer Placeholder 4"/>
          <p:cNvSpPr>
            <a:spLocks noGrp="1"/>
          </p:cNvSpPr>
          <p:nvPr>
            <p:ph type="ftr" sz="quarter" idx="11"/>
          </p:nvPr>
        </p:nvSpPr>
        <p:spPr>
          <a:xfrm>
            <a:off x="3470716" y="9835215"/>
            <a:ext cx="5791200" cy="342900"/>
          </a:xfrm>
        </p:spPr>
        <p:txBody>
          <a:bodyPr bIns="0" anchor="b"/>
          <a:lstStyle>
            <a:lvl1pPr>
              <a:defRPr>
                <a:solidFill>
                  <a:schemeClr val="tx2"/>
                </a:solidFill>
              </a:defRPr>
            </a:lvl1pPr>
            <a:extLst/>
          </a:lstStyle>
          <a:p>
            <a:endParaRPr lang="en-US"/>
          </a:p>
        </p:txBody>
      </p:sp>
      <p:sp>
        <p:nvSpPr>
          <p:cNvPr id="6" name="Slide Number Placeholder 5"/>
          <p:cNvSpPr>
            <a:spLocks noGrp="1"/>
          </p:cNvSpPr>
          <p:nvPr>
            <p:ph type="sldNum" sz="quarter" idx="12"/>
          </p:nvPr>
        </p:nvSpPr>
        <p:spPr>
          <a:xfrm>
            <a:off x="13467904" y="9832668"/>
            <a:ext cx="1176672" cy="342900"/>
          </a:xfrm>
        </p:spPr>
        <p:txBody>
          <a:bodyPr/>
          <a:lstStyle>
            <a:extLst/>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480060"/>
            <a:ext cx="14484096" cy="17145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914400" y="2400301"/>
            <a:ext cx="7040880" cy="6788945"/>
          </a:xfrm>
        </p:spPr>
        <p:txBody>
          <a:bodyPr anchor="t"/>
          <a:lstStyle>
            <a:lvl1pPr>
              <a:defRPr sz="5000"/>
            </a:lvl1pPr>
            <a:lvl2pPr>
              <a:defRPr sz="4300"/>
            </a:lvl2pPr>
            <a:lvl3pPr>
              <a:defRPr sz="3600"/>
            </a:lvl3pPr>
            <a:lvl4pPr>
              <a:defRPr sz="3200"/>
            </a:lvl4pPr>
            <a:lvl5pPr>
              <a:defRPr sz="32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8357616" y="2400301"/>
            <a:ext cx="7040880" cy="6788945"/>
          </a:xfrm>
        </p:spPr>
        <p:txBody>
          <a:bodyPr anchor="t"/>
          <a:lstStyle>
            <a:lvl1pPr>
              <a:defRPr sz="5000"/>
            </a:lvl1pPr>
            <a:lvl2pPr>
              <a:defRPr sz="4300"/>
            </a:lvl2pPr>
            <a:lvl3pPr>
              <a:defRPr sz="3600"/>
            </a:lvl3pPr>
            <a:lvl4pPr>
              <a:defRPr sz="3200"/>
            </a:lvl4pPr>
            <a:lvl5pPr>
              <a:defRPr sz="32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5/19/2025</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480060"/>
            <a:ext cx="14484096" cy="1714500"/>
          </a:xfrm>
        </p:spPr>
        <p:txBody>
          <a:bodyPr anchor="b"/>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8801100"/>
            <a:ext cx="7040880" cy="6858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3200" b="1">
                <a:solidFill>
                  <a:schemeClr val="tx2"/>
                </a:solidFill>
                <a:effectLst/>
              </a:defRPr>
            </a:lvl1pPr>
            <a:lvl2pPr>
              <a:buNone/>
              <a:defRPr sz="3600" b="1"/>
            </a:lvl2pPr>
            <a:lvl3pPr>
              <a:buNone/>
              <a:defRPr sz="3200" b="1"/>
            </a:lvl3pPr>
            <a:lvl4pPr>
              <a:buNone/>
              <a:defRPr sz="2900" b="1"/>
            </a:lvl4pPr>
            <a:lvl5pPr>
              <a:buNone/>
              <a:defRPr sz="29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8357616" y="8801100"/>
            <a:ext cx="7040880" cy="6858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3200" b="1">
                <a:solidFill>
                  <a:schemeClr val="tx2"/>
                </a:solidFill>
                <a:effectLst/>
              </a:defRPr>
            </a:lvl1pPr>
            <a:lvl2pPr>
              <a:buNone/>
              <a:defRPr sz="3600" b="1"/>
            </a:lvl2pPr>
            <a:lvl3pPr>
              <a:buNone/>
              <a:defRPr sz="3200" b="1"/>
            </a:lvl3pPr>
            <a:lvl4pPr>
              <a:buNone/>
              <a:defRPr sz="2900" b="1"/>
            </a:lvl4pPr>
            <a:lvl5pPr>
              <a:buNone/>
              <a:defRPr sz="29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914400" y="2567760"/>
            <a:ext cx="7040880" cy="6172200"/>
          </a:xfrm>
        </p:spPr>
        <p:txBody>
          <a:bodyPr/>
          <a:lstStyle>
            <a:lvl1pPr>
              <a:defRPr sz="4300"/>
            </a:lvl1pPr>
            <a:lvl2pPr>
              <a:defRPr sz="3600"/>
            </a:lvl2pPr>
            <a:lvl3pPr>
              <a:defRPr sz="3200"/>
            </a:lvl3pPr>
            <a:lvl4pPr>
              <a:defRPr sz="2900"/>
            </a:lvl4pPr>
            <a:lvl5pPr>
              <a:defRPr sz="29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8357616" y="2567760"/>
            <a:ext cx="7040880" cy="6172200"/>
          </a:xfrm>
        </p:spPr>
        <p:txBody>
          <a:bodyPr/>
          <a:lstStyle>
            <a:lvl1pPr>
              <a:defRPr sz="4300"/>
            </a:lvl1pPr>
            <a:lvl2pPr>
              <a:defRPr sz="3600"/>
            </a:lvl2pPr>
            <a:lvl3pPr>
              <a:defRPr sz="3200"/>
            </a:lvl3pPr>
            <a:lvl4pPr>
              <a:defRPr sz="2900"/>
            </a:lvl4pPr>
            <a:lvl5pPr>
              <a:defRPr sz="29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5/19/2025</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914400" y="480060"/>
            <a:ext cx="14484096" cy="1714500"/>
          </a:xfrm>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1D8BD707-D9CF-40AE-B4C6-C98DA3205C09}" type="datetimeFigureOut">
              <a:rPr lang="en-US" smtClean="0"/>
              <a:pPr/>
              <a:t>5/19/2025</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extLst/>
          </a:lstStyle>
          <a:p>
            <a:fld id="{1D8BD707-D9CF-40AE-B4C6-C98DA3205C09}" type="datetimeFigureOut">
              <a:rPr lang="en-US" smtClean="0"/>
              <a:pPr/>
              <a:t>5/19/2025</a:t>
            </a:fld>
            <a:endParaRPr lang="en-US"/>
          </a:p>
        </p:txBody>
      </p:sp>
      <p:sp>
        <p:nvSpPr>
          <p:cNvPr id="3" name="Footer Placeholder 2"/>
          <p:cNvSpPr>
            <a:spLocks noGrp="1"/>
          </p:cNvSpPr>
          <p:nvPr>
            <p:ph type="ftr" sz="quarter" idx="11"/>
          </p:nvPr>
        </p:nvSpPr>
        <p:spPr/>
        <p:txBody>
          <a:bodyPr/>
          <a:lstStyle>
            <a:lvl1pPr>
              <a:defRPr>
                <a:solidFill>
                  <a:schemeClr val="tx2"/>
                </a:solidFill>
              </a:defRPr>
            </a:lvl1pPr>
            <a:extLst/>
          </a:lstStyle>
          <a:p>
            <a:endParaRPr lang="en-US"/>
          </a:p>
        </p:txBody>
      </p:sp>
      <p:sp>
        <p:nvSpPr>
          <p:cNvPr id="4" name="Slide Number Placeholder 3"/>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342900"/>
            <a:ext cx="11795760" cy="1760220"/>
          </a:xfrm>
        </p:spPr>
        <p:txBody>
          <a:bodyPr wrap="square" anchor="b"/>
          <a:lstStyle>
            <a:lvl1pPr algn="l">
              <a:buNone/>
              <a:defRPr lang="en-US" sz="4300" baseline="0" smtClean="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2246124"/>
            <a:ext cx="11795760" cy="903768"/>
          </a:xfrm>
        </p:spPr>
        <p:txBody>
          <a:bodyPr rot="0" spcFirstLastPara="0" vertOverflow="overflow" horzOverflow="overflow" vert="horz" wrap="square" lIns="81642" tIns="0" rIns="0" bIns="0" numCol="1" spcCol="0" rtlCol="0" fromWordArt="0" anchor="t" anchorCtr="0" forceAA="0" compatLnSpc="1">
            <a:normAutofit/>
          </a:bodyPr>
          <a:lstStyle>
            <a:lvl1pPr marL="0" indent="0">
              <a:spcBef>
                <a:spcPts val="0"/>
              </a:spcBef>
              <a:spcAft>
                <a:spcPts val="0"/>
              </a:spcAft>
              <a:buNone/>
              <a:defRPr sz="2500"/>
            </a:lvl1pPr>
            <a:lvl2pPr>
              <a:buNone/>
              <a:defRPr sz="2100"/>
            </a:lvl2pPr>
            <a:lvl3pPr>
              <a:buNone/>
              <a:defRPr sz="1800"/>
            </a:lvl3pPr>
            <a:lvl4pPr>
              <a:buNone/>
              <a:defRPr sz="1600"/>
            </a:lvl4pPr>
            <a:lvl5pPr>
              <a:buNone/>
              <a:defRPr sz="16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3200400"/>
            <a:ext cx="14478000" cy="6557628"/>
          </a:xfrm>
        </p:spPr>
        <p:txBody>
          <a:bodyPr/>
          <a:lstStyle>
            <a:lvl1pPr>
              <a:defRPr sz="5700"/>
            </a:lvl1pPr>
            <a:lvl2pPr>
              <a:defRPr sz="5000"/>
            </a:lvl2pPr>
            <a:lvl3pPr>
              <a:defRPr sz="4300"/>
            </a:lvl3pPr>
            <a:lvl4pPr>
              <a:defRPr sz="3600"/>
            </a:lvl4pPr>
            <a:lvl5pPr>
              <a:defRPr sz="3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5/19/2025</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2"/>
      </p:bgRef>
    </p:bg>
    <p:spTree>
      <p:nvGrpSpPr>
        <p:cNvPr id="1" name=""/>
        <p:cNvGrpSpPr/>
        <p:nvPr/>
      </p:nvGrpSpPr>
      <p:grpSpPr>
        <a:xfrm>
          <a:off x="0" y="0"/>
          <a:ext cx="0" cy="0"/>
          <a:chOff x="0" y="0"/>
          <a:chExt cx="0" cy="0"/>
        </a:xfrm>
      </p:grpSpPr>
      <p:sp>
        <p:nvSpPr>
          <p:cNvPr id="8" name="Rectangle 7"/>
          <p:cNvSpPr/>
          <p:nvPr/>
        </p:nvSpPr>
        <p:spPr>
          <a:xfrm rot="21240000">
            <a:off x="1195937" y="1507003"/>
            <a:ext cx="8639054" cy="6468860"/>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lIns="163284" tIns="81642" rIns="163284" bIns="81642" rtlCol="0" anchor="ctr"/>
          <a:lstStyle>
            <a:extLst/>
          </a:lstStyle>
          <a:p>
            <a:pPr algn="ctr" eaLnBrk="1" latinLnBrk="0" hangingPunct="1"/>
            <a:endParaRPr kumimoji="0" lang="en-US"/>
          </a:p>
        </p:txBody>
      </p:sp>
      <p:sp>
        <p:nvSpPr>
          <p:cNvPr id="9" name="Rectangle 8"/>
          <p:cNvSpPr/>
          <p:nvPr/>
        </p:nvSpPr>
        <p:spPr>
          <a:xfrm rot="21420000">
            <a:off x="1193413" y="1498225"/>
            <a:ext cx="8639054" cy="6468860"/>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lIns="163284" tIns="81642" rIns="163284" bIns="81642" rtlCol="0" anchor="ctr"/>
          <a:lstStyle>
            <a:extLst/>
          </a:lstStyle>
          <a:p>
            <a:pPr algn="ctr" eaLnBrk="1" latinLnBrk="0" hangingPunct="1"/>
            <a:endParaRPr kumimoji="0" lang="en-US"/>
          </a:p>
        </p:txBody>
      </p:sp>
      <p:sp>
        <p:nvSpPr>
          <p:cNvPr id="2" name="Title 1"/>
          <p:cNvSpPr>
            <a:spLocks noGrp="1"/>
          </p:cNvSpPr>
          <p:nvPr>
            <p:ph type="title"/>
          </p:nvPr>
        </p:nvSpPr>
        <p:spPr>
          <a:xfrm>
            <a:off x="10778196" y="1714500"/>
            <a:ext cx="6858000" cy="3086100"/>
          </a:xfrm>
        </p:spPr>
        <p:txBody>
          <a:bodyPr vert="horz" anchor="b"/>
          <a:lstStyle>
            <a:lvl1pPr algn="l">
              <a:buNone/>
              <a:defRPr sz="54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en-US" smtClean="0"/>
              <a:t>Click to edit Master title style</a:t>
            </a:r>
            <a:endParaRPr kumimoji="0" lang="en-US" dirty="0"/>
          </a:p>
        </p:txBody>
      </p:sp>
      <p:sp>
        <p:nvSpPr>
          <p:cNvPr id="4" name="Text Placeholder 3"/>
          <p:cNvSpPr>
            <a:spLocks noGrp="1"/>
          </p:cNvSpPr>
          <p:nvPr>
            <p:ph type="body" sz="half" idx="2"/>
          </p:nvPr>
        </p:nvSpPr>
        <p:spPr>
          <a:xfrm>
            <a:off x="10778196" y="4925451"/>
            <a:ext cx="6858000" cy="2880360"/>
          </a:xfrm>
        </p:spPr>
        <p:txBody>
          <a:bodyPr rot="0" spcFirstLastPara="0" vertOverflow="overflow" horzOverflow="overflow" vert="horz" wrap="square" lIns="146956" tIns="0" rIns="0" bIns="0" numCol="1" spcCol="0" rtlCol="0" fromWordArt="0" anchor="t" anchorCtr="0" forceAA="0" compatLnSpc="1">
            <a:normAutofit/>
          </a:bodyPr>
          <a:lstStyle>
            <a:lvl1pPr marL="0" indent="0">
              <a:lnSpc>
                <a:spcPct val="100000"/>
              </a:lnSpc>
              <a:spcBef>
                <a:spcPts val="0"/>
              </a:spcBef>
              <a:buFontTx/>
              <a:buNone/>
              <a:defRPr sz="2500" baseline="0">
                <a:solidFill>
                  <a:schemeClr val="tx1"/>
                </a:solidFill>
              </a:defRPr>
            </a:lvl1pPr>
            <a:lvl2pPr>
              <a:defRPr sz="2100"/>
            </a:lvl2pPr>
            <a:lvl3pPr>
              <a:defRPr sz="1800"/>
            </a:lvl3pPr>
            <a:lvl4pPr>
              <a:defRPr sz="1600"/>
            </a:lvl4pPr>
            <a:lvl5pPr>
              <a:defRPr sz="16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en-US" smtClean="0"/>
              <a:t>Click to edit Master text styles</a:t>
            </a:r>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5/19/2025</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10" name="Picture Placeholder 9"/>
          <p:cNvSpPr>
            <a:spLocks noGrp="1"/>
          </p:cNvSpPr>
          <p:nvPr>
            <p:ph type="pic" idx="1"/>
          </p:nvPr>
        </p:nvSpPr>
        <p:spPr>
          <a:xfrm>
            <a:off x="1327364" y="1561503"/>
            <a:ext cx="8412480" cy="630936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5700"/>
            </a:lvl1pPr>
            <a:extLst/>
          </a:lstStyle>
          <a:p>
            <a:r>
              <a:rPr kumimoji="0" lang="en-US" smtClean="0"/>
              <a:t>Click icon to add picture</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5/19/2025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106400" y="412433"/>
            <a:ext cx="3048000" cy="8777288"/>
          </a:xfrm>
        </p:spPr>
        <p:txBody>
          <a:bodyPr vert="eaVert" ancho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411964"/>
            <a:ext cx="12039600" cy="8777288"/>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8485632" y="9836919"/>
            <a:ext cx="4004928" cy="340353"/>
          </a:xfrm>
        </p:spPr>
        <p:txBody>
          <a:bodyPr/>
          <a:lstStyle>
            <a:extLst/>
          </a:lstStyle>
          <a:p>
            <a:fld id="{1D8BD707-D9CF-40AE-B4C6-C98DA3205C09}" type="datetimeFigureOut">
              <a:rPr lang="en-US" smtClean="0"/>
              <a:pPr/>
              <a:t>5/19/2025</a:t>
            </a:fld>
            <a:endParaRPr lang="en-US"/>
          </a:p>
        </p:txBody>
      </p:sp>
      <p:sp>
        <p:nvSpPr>
          <p:cNvPr id="5" name="Footer Placeholder 4"/>
          <p:cNvSpPr>
            <a:spLocks noGrp="1"/>
          </p:cNvSpPr>
          <p:nvPr>
            <p:ph type="ftr" sz="quarter" idx="11"/>
          </p:nvPr>
        </p:nvSpPr>
        <p:spPr>
          <a:xfrm>
            <a:off x="914400" y="9834372"/>
            <a:ext cx="7315200" cy="342900"/>
          </a:xfrm>
        </p:spPr>
        <p:txBody>
          <a:bodyPr/>
          <a:lstStyle>
            <a:extLst/>
          </a:lstStyle>
          <a:p>
            <a:endParaRPr lang="en-US"/>
          </a:p>
        </p:txBody>
      </p:sp>
      <p:sp>
        <p:nvSpPr>
          <p:cNvPr id="6" name="Slide Number Placeholder 5"/>
          <p:cNvSpPr>
            <a:spLocks noGrp="1"/>
          </p:cNvSpPr>
          <p:nvPr>
            <p:ph type="sldNum" sz="quarter" idx="12"/>
          </p:nvPr>
        </p:nvSpPr>
        <p:spPr>
          <a:xfrm>
            <a:off x="12508992" y="9829800"/>
            <a:ext cx="1176672" cy="342900"/>
          </a:xfrm>
        </p:spPr>
        <p:txBody>
          <a:bodyPr/>
          <a:lstStyle>
            <a:lvl1pPr>
              <a:defRPr>
                <a:solidFill>
                  <a:schemeClr val="tx2"/>
                </a:solidFill>
              </a:defRPr>
            </a:lvl1pPr>
            <a:extLst/>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flipH="1">
            <a:off x="16306800" y="0"/>
            <a:ext cx="1981200" cy="10287000"/>
          </a:xfrm>
          <a:prstGeom prst="rect">
            <a:avLst/>
          </a:prstGeom>
          <a:blipFill>
            <a:blip r:embed="rId13">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lIns="163284" tIns="81642" rIns="163284" bIns="81642" anchor="ctr"/>
          <a:lstStyle>
            <a:extLst/>
          </a:lstStyle>
          <a:p>
            <a:pPr algn="ctr" eaLnBrk="1" latinLnBrk="0" hangingPunct="1"/>
            <a:endParaRPr kumimoji="0" lang="en-US"/>
          </a:p>
        </p:txBody>
      </p:sp>
      <p:sp>
        <p:nvSpPr>
          <p:cNvPr id="3" name="Title Placeholder 2"/>
          <p:cNvSpPr>
            <a:spLocks noGrp="1"/>
          </p:cNvSpPr>
          <p:nvPr>
            <p:ph type="title"/>
          </p:nvPr>
        </p:nvSpPr>
        <p:spPr>
          <a:xfrm>
            <a:off x="914400" y="480060"/>
            <a:ext cx="14478000" cy="1714500"/>
          </a:xfrm>
          <a:prstGeom prst="rect">
            <a:avLst/>
          </a:prstGeom>
        </p:spPr>
        <p:txBody>
          <a:bodyPr vert="horz" lIns="81642" tIns="0" rIns="81642" bIns="0" anchor="b" anchorCtr="0">
            <a:normAutofit/>
          </a:bodyPr>
          <a:lstStyle>
            <a:extLst/>
          </a:lstStyle>
          <a:p>
            <a:r>
              <a:rPr kumimoji="0" lang="en-US" smtClean="0"/>
              <a:t>Click to edit Master title style</a:t>
            </a:r>
            <a:endParaRPr kumimoji="0" lang="en-US"/>
          </a:p>
        </p:txBody>
      </p:sp>
      <p:sp>
        <p:nvSpPr>
          <p:cNvPr id="31" name="Text Placeholder 30"/>
          <p:cNvSpPr>
            <a:spLocks noGrp="1"/>
          </p:cNvSpPr>
          <p:nvPr>
            <p:ph type="body" idx="1"/>
          </p:nvPr>
        </p:nvSpPr>
        <p:spPr>
          <a:xfrm>
            <a:off x="914400" y="2414124"/>
            <a:ext cx="14478000" cy="7269480"/>
          </a:xfrm>
          <a:prstGeom prst="rect">
            <a:avLst/>
          </a:prstGeom>
        </p:spPr>
        <p:txBody>
          <a:bodyPr vert="horz" lIns="163284" tIns="81642" rIns="163284" bIns="81642">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7" name="Date Placeholder 26"/>
          <p:cNvSpPr>
            <a:spLocks noGrp="1"/>
          </p:cNvSpPr>
          <p:nvPr>
            <p:ph type="dt" sz="half" idx="2"/>
          </p:nvPr>
        </p:nvSpPr>
        <p:spPr>
          <a:xfrm>
            <a:off x="8491872" y="9836919"/>
            <a:ext cx="4004928" cy="340353"/>
          </a:xfrm>
          <a:prstGeom prst="rect">
            <a:avLst/>
          </a:prstGeom>
        </p:spPr>
        <p:txBody>
          <a:bodyPr vert="horz" lIns="163284" tIns="0" rIns="163284" bIns="0" anchor="b"/>
          <a:lstStyle>
            <a:lvl1pPr algn="l" eaLnBrk="1" latinLnBrk="0" hangingPunct="1">
              <a:defRPr kumimoji="0" sz="1800">
                <a:solidFill>
                  <a:schemeClr val="tx2"/>
                </a:solidFill>
              </a:defRPr>
            </a:lvl1pPr>
            <a:extLst/>
          </a:lstStyle>
          <a:p>
            <a:fld id="{1D8BD707-D9CF-40AE-B4C6-C98DA3205C09}" type="datetimeFigureOut">
              <a:rPr lang="en-US" smtClean="0"/>
              <a:pPr/>
              <a:t>5/19/2025</a:t>
            </a:fld>
            <a:endParaRPr lang="en-US"/>
          </a:p>
        </p:txBody>
      </p:sp>
      <p:sp>
        <p:nvSpPr>
          <p:cNvPr id="4" name="Footer Placeholder 3"/>
          <p:cNvSpPr>
            <a:spLocks noGrp="1"/>
          </p:cNvSpPr>
          <p:nvPr>
            <p:ph type="ftr" sz="quarter" idx="3"/>
          </p:nvPr>
        </p:nvSpPr>
        <p:spPr>
          <a:xfrm>
            <a:off x="914400" y="9836919"/>
            <a:ext cx="7315200" cy="342900"/>
          </a:xfrm>
          <a:prstGeom prst="rect">
            <a:avLst/>
          </a:prstGeom>
        </p:spPr>
        <p:txBody>
          <a:bodyPr vert="horz" lIns="163284" tIns="0" rIns="163284" bIns="0" anchor="b"/>
          <a:lstStyle>
            <a:lvl1pPr algn="r" eaLnBrk="1" latinLnBrk="0" hangingPunct="1">
              <a:defRPr kumimoji="0" sz="1800">
                <a:solidFill>
                  <a:schemeClr val="tx2"/>
                </a:solidFill>
              </a:defRPr>
            </a:lvl1pPr>
            <a:extLst/>
          </a:lstStyle>
          <a:p>
            <a:endParaRPr lang="en-US"/>
          </a:p>
        </p:txBody>
      </p:sp>
      <p:sp>
        <p:nvSpPr>
          <p:cNvPr id="16" name="Slide Number Placeholder 15"/>
          <p:cNvSpPr>
            <a:spLocks noGrp="1"/>
          </p:cNvSpPr>
          <p:nvPr>
            <p:ph type="sldNum" sz="quarter" idx="4"/>
          </p:nvPr>
        </p:nvSpPr>
        <p:spPr>
          <a:xfrm>
            <a:off x="12502896" y="9834372"/>
            <a:ext cx="1176672" cy="342900"/>
          </a:xfrm>
          <a:prstGeom prst="rect">
            <a:avLst/>
          </a:prstGeom>
        </p:spPr>
        <p:txBody>
          <a:bodyPr vert="horz" lIns="0" tIns="0" rIns="0" bIns="0" anchor="b"/>
          <a:lstStyle>
            <a:lvl1pPr algn="r" eaLnBrk="1" latinLnBrk="0" hangingPunct="1">
              <a:defRPr kumimoji="0" sz="2000">
                <a:solidFill>
                  <a:schemeClr val="tx2"/>
                </a:solidFill>
              </a:defRPr>
            </a:lvl1pPr>
            <a:extLst/>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rtl="0" eaLnBrk="1" latinLnBrk="0" hangingPunct="1">
        <a:spcBef>
          <a:spcPct val="0"/>
        </a:spcBef>
        <a:buNone/>
        <a:defRPr kumimoji="0" sz="6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489853" indent="-489853" algn="l" rtl="0" eaLnBrk="1" latinLnBrk="0" hangingPunct="1">
        <a:spcBef>
          <a:spcPts val="1071"/>
        </a:spcBef>
        <a:buClr>
          <a:schemeClr val="tx2"/>
        </a:buClr>
        <a:buSzPct val="73000"/>
        <a:buFont typeface="Wingdings 2"/>
        <a:buChar char=""/>
        <a:defRPr kumimoji="0" sz="4600" kern="1200" baseline="0">
          <a:solidFill>
            <a:schemeClr val="tx1"/>
          </a:solidFill>
          <a:latin typeface="+mn-lt"/>
          <a:ea typeface="+mn-ea"/>
          <a:cs typeface="+mn-cs"/>
        </a:defRPr>
      </a:lvl1pPr>
      <a:lvl2pPr marL="930721" indent="-408211" algn="l" rtl="0" eaLnBrk="1" latinLnBrk="0" hangingPunct="1">
        <a:spcBef>
          <a:spcPts val="893"/>
        </a:spcBef>
        <a:buClr>
          <a:schemeClr val="accent4"/>
        </a:buClr>
        <a:buSzPct val="80000"/>
        <a:buFont typeface="Wingdings 2"/>
        <a:buChar char=""/>
        <a:defRPr kumimoji="0" sz="4100" kern="1200">
          <a:solidFill>
            <a:schemeClr val="tx1">
              <a:tint val="85000"/>
            </a:schemeClr>
          </a:solidFill>
          <a:latin typeface="+mn-lt"/>
          <a:ea typeface="+mn-ea"/>
          <a:cs typeface="+mn-cs"/>
        </a:defRPr>
      </a:lvl2pPr>
      <a:lvl3pPr marL="1355261" indent="-408211" algn="l" rtl="0" eaLnBrk="1" latinLnBrk="0" hangingPunct="1">
        <a:spcBef>
          <a:spcPts val="714"/>
        </a:spcBef>
        <a:buClr>
          <a:schemeClr val="accent4"/>
        </a:buClr>
        <a:buSzPct val="60000"/>
        <a:buFont typeface="Wingdings"/>
        <a:buChar char=""/>
        <a:defRPr kumimoji="0" sz="3600" kern="1200">
          <a:solidFill>
            <a:schemeClr val="tx1"/>
          </a:solidFill>
          <a:latin typeface="+mn-lt"/>
          <a:ea typeface="+mn-ea"/>
          <a:cs typeface="+mn-cs"/>
        </a:defRPr>
      </a:lvl3pPr>
      <a:lvl4pPr marL="1796128" indent="-408211" algn="l" rtl="0" eaLnBrk="1" latinLnBrk="0" hangingPunct="1">
        <a:spcBef>
          <a:spcPct val="20000"/>
        </a:spcBef>
        <a:buClr>
          <a:schemeClr val="accent4"/>
        </a:buClr>
        <a:buSzPct val="80000"/>
        <a:buFont typeface="Wingdings 2"/>
        <a:buChar char=""/>
        <a:defRPr kumimoji="0" sz="3600" kern="1200">
          <a:solidFill>
            <a:schemeClr val="tx1">
              <a:tint val="85000"/>
            </a:schemeClr>
          </a:solidFill>
          <a:latin typeface="+mn-lt"/>
          <a:ea typeface="+mn-ea"/>
          <a:cs typeface="+mn-cs"/>
        </a:defRPr>
      </a:lvl4pPr>
      <a:lvl5pPr marL="2285982" indent="-408211" algn="l" rtl="0" eaLnBrk="1" latinLnBrk="0" hangingPunct="1">
        <a:spcBef>
          <a:spcPts val="714"/>
        </a:spcBef>
        <a:buClr>
          <a:schemeClr val="accent4"/>
        </a:buClr>
        <a:buSzPct val="70000"/>
        <a:buFont typeface="Wingdings"/>
        <a:buChar char=""/>
        <a:defRPr kumimoji="0" sz="3200" kern="1200">
          <a:solidFill>
            <a:schemeClr val="tx1"/>
          </a:solidFill>
          <a:latin typeface="+mn-lt"/>
          <a:ea typeface="+mn-ea"/>
          <a:cs typeface="+mn-cs"/>
        </a:defRPr>
      </a:lvl5pPr>
      <a:lvl6pPr marL="2628879" indent="-326569" algn="l" rtl="0" eaLnBrk="1" latinLnBrk="0" hangingPunct="1">
        <a:spcBef>
          <a:spcPts val="714"/>
        </a:spcBef>
        <a:buClr>
          <a:schemeClr val="accent4"/>
        </a:buClr>
        <a:buSzPct val="80000"/>
        <a:buFont typeface="Wingdings 2"/>
        <a:buChar char=""/>
        <a:defRPr kumimoji="0" sz="3200" kern="1200">
          <a:solidFill>
            <a:schemeClr val="tx1">
              <a:tint val="85000"/>
            </a:schemeClr>
          </a:solidFill>
          <a:latin typeface="+mn-lt"/>
          <a:ea typeface="+mn-ea"/>
          <a:cs typeface="+mn-cs"/>
        </a:defRPr>
      </a:lvl6pPr>
      <a:lvl7pPr marL="2988105" indent="-326569" algn="l" rtl="0" eaLnBrk="1" latinLnBrk="0" hangingPunct="1">
        <a:spcBef>
          <a:spcPct val="20000"/>
        </a:spcBef>
        <a:buClr>
          <a:schemeClr val="accent4"/>
        </a:buClr>
        <a:buSzPct val="80000"/>
        <a:buFont typeface="Wingdings 2"/>
        <a:buChar char=""/>
        <a:defRPr kumimoji="0" sz="2900" kern="1200" baseline="0">
          <a:solidFill>
            <a:schemeClr val="tx1"/>
          </a:solidFill>
          <a:latin typeface="+mn-lt"/>
          <a:ea typeface="+mn-ea"/>
          <a:cs typeface="+mn-cs"/>
        </a:defRPr>
      </a:lvl7pPr>
      <a:lvl8pPr marL="3298345" indent="-326569" algn="l" rtl="0" eaLnBrk="1" latinLnBrk="0" hangingPunct="1">
        <a:spcBef>
          <a:spcPts val="536"/>
        </a:spcBef>
        <a:buClr>
          <a:schemeClr val="accent4"/>
        </a:buClr>
        <a:buSzPct val="100000"/>
        <a:buChar char="•"/>
        <a:defRPr kumimoji="0" sz="2900" kern="1200" baseline="0">
          <a:solidFill>
            <a:schemeClr val="tx1">
              <a:tint val="85000"/>
            </a:schemeClr>
          </a:solidFill>
          <a:latin typeface="+mn-lt"/>
          <a:ea typeface="+mn-ea"/>
          <a:cs typeface="+mn-cs"/>
        </a:defRPr>
      </a:lvl8pPr>
      <a:lvl9pPr marL="3673899" indent="-326569" algn="l" rtl="0" eaLnBrk="1" latinLnBrk="0" hangingPunct="1">
        <a:spcBef>
          <a:spcPct val="20000"/>
        </a:spcBef>
        <a:buClr>
          <a:schemeClr val="accent4"/>
        </a:buClr>
        <a:buSzPct val="100000"/>
        <a:buFont typeface="Wingdings"/>
        <a:buChar char="§"/>
        <a:defRPr kumimoji="0" sz="25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816422" algn="l" rtl="0" eaLnBrk="1" latinLnBrk="0" hangingPunct="1">
        <a:defRPr kumimoji="0" kern="1200">
          <a:solidFill>
            <a:schemeClr val="tx1"/>
          </a:solidFill>
          <a:latin typeface="+mn-lt"/>
          <a:ea typeface="+mn-ea"/>
          <a:cs typeface="+mn-cs"/>
        </a:defRPr>
      </a:lvl2pPr>
      <a:lvl3pPr marL="1632844" algn="l" rtl="0" eaLnBrk="1" latinLnBrk="0" hangingPunct="1">
        <a:defRPr kumimoji="0" kern="1200">
          <a:solidFill>
            <a:schemeClr val="tx1"/>
          </a:solidFill>
          <a:latin typeface="+mn-lt"/>
          <a:ea typeface="+mn-ea"/>
          <a:cs typeface="+mn-cs"/>
        </a:defRPr>
      </a:lvl3pPr>
      <a:lvl4pPr marL="2449266" algn="l" rtl="0" eaLnBrk="1" latinLnBrk="0" hangingPunct="1">
        <a:defRPr kumimoji="0" kern="1200">
          <a:solidFill>
            <a:schemeClr val="tx1"/>
          </a:solidFill>
          <a:latin typeface="+mn-lt"/>
          <a:ea typeface="+mn-ea"/>
          <a:cs typeface="+mn-cs"/>
        </a:defRPr>
      </a:lvl4pPr>
      <a:lvl5pPr marL="3265688" algn="l" rtl="0" eaLnBrk="1" latinLnBrk="0" hangingPunct="1">
        <a:defRPr kumimoji="0" kern="1200">
          <a:solidFill>
            <a:schemeClr val="tx1"/>
          </a:solidFill>
          <a:latin typeface="+mn-lt"/>
          <a:ea typeface="+mn-ea"/>
          <a:cs typeface="+mn-cs"/>
        </a:defRPr>
      </a:lvl5pPr>
      <a:lvl6pPr marL="4082110" algn="l" rtl="0" eaLnBrk="1" latinLnBrk="0" hangingPunct="1">
        <a:defRPr kumimoji="0" kern="1200">
          <a:solidFill>
            <a:schemeClr val="tx1"/>
          </a:solidFill>
          <a:latin typeface="+mn-lt"/>
          <a:ea typeface="+mn-ea"/>
          <a:cs typeface="+mn-cs"/>
        </a:defRPr>
      </a:lvl6pPr>
      <a:lvl7pPr marL="4898532" algn="l" rtl="0" eaLnBrk="1" latinLnBrk="0" hangingPunct="1">
        <a:defRPr kumimoji="0" kern="1200">
          <a:solidFill>
            <a:schemeClr val="tx1"/>
          </a:solidFill>
          <a:latin typeface="+mn-lt"/>
          <a:ea typeface="+mn-ea"/>
          <a:cs typeface="+mn-cs"/>
        </a:defRPr>
      </a:lvl7pPr>
      <a:lvl8pPr marL="5714954" algn="l" rtl="0" eaLnBrk="1" latinLnBrk="0" hangingPunct="1">
        <a:defRPr kumimoji="0" kern="1200">
          <a:solidFill>
            <a:schemeClr val="tx1"/>
          </a:solidFill>
          <a:latin typeface="+mn-lt"/>
          <a:ea typeface="+mn-ea"/>
          <a:cs typeface="+mn-cs"/>
        </a:defRPr>
      </a:lvl8pPr>
      <a:lvl9pPr marL="6531376"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hyperlink" Target="https://gamma.app/?utm_source=made-with-gamma" TargetMode="External"/><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440" y="2428856"/>
            <a:ext cx="16473542" cy="1143000"/>
          </a:xfrm>
        </p:spPr>
        <p:txBody>
          <a:bodyPr>
            <a:normAutofit fontScale="90000"/>
          </a:bodyPr>
          <a:lstStyle/>
          <a:p>
            <a:r>
              <a:rPr lang="en-US" b="1" dirty="0" smtClean="0">
                <a:solidFill>
                  <a:srgbClr val="FF0000"/>
                </a:solidFill>
                <a:latin typeface="Lato Bold"/>
                <a:ea typeface="Lato Bold"/>
                <a:cs typeface="Lato Bold"/>
                <a:sym typeface="Lato Bold"/>
              </a:rPr>
              <a:t>Project presentation on</a:t>
            </a:r>
            <a:r>
              <a:rPr lang="en-US" b="1" dirty="0" smtClean="0">
                <a:solidFill>
                  <a:srgbClr val="FF0000"/>
                </a:solidFill>
                <a:latin typeface="Lato Bold"/>
                <a:ea typeface="Lato Bold"/>
                <a:cs typeface="Lato Bold"/>
                <a:sym typeface="Lato Bold"/>
              </a:rPr>
              <a:t/>
            </a:r>
            <a:br>
              <a:rPr lang="en-US" b="1" dirty="0" smtClean="0">
                <a:solidFill>
                  <a:srgbClr val="FF0000"/>
                </a:solidFill>
                <a:latin typeface="Lato Bold"/>
                <a:ea typeface="Lato Bold"/>
                <a:cs typeface="Lato Bold"/>
                <a:sym typeface="Lato Bold"/>
              </a:rPr>
            </a:br>
            <a:r>
              <a:rPr lang="en-US" b="1" dirty="0" smtClean="0">
                <a:solidFill>
                  <a:srgbClr val="FF0000"/>
                </a:solidFill>
                <a:latin typeface="Lato Bold"/>
                <a:ea typeface="Lato Bold"/>
                <a:cs typeface="Lato Bold"/>
                <a:sym typeface="Lato Bold"/>
              </a:rPr>
              <a:t>Construction </a:t>
            </a:r>
            <a:r>
              <a:rPr lang="en-US" b="1" dirty="0" smtClean="0">
                <a:solidFill>
                  <a:srgbClr val="FF0000"/>
                </a:solidFill>
                <a:latin typeface="Lato Bold"/>
                <a:ea typeface="Lato Bold"/>
                <a:cs typeface="Lato Bold"/>
                <a:sym typeface="Lato Bold"/>
              </a:rPr>
              <a:t>Dynamic Project</a:t>
            </a:r>
            <a:endParaRPr lang="en-US" dirty="0">
              <a:solidFill>
                <a:srgbClr val="FF0000"/>
              </a:solidFill>
            </a:endParaRPr>
          </a:p>
        </p:txBody>
      </p:sp>
      <p:sp>
        <p:nvSpPr>
          <p:cNvPr id="3" name="Content Placeholder 2"/>
          <p:cNvSpPr>
            <a:spLocks noGrp="1"/>
          </p:cNvSpPr>
          <p:nvPr>
            <p:ph idx="1"/>
          </p:nvPr>
        </p:nvSpPr>
        <p:spPr>
          <a:xfrm>
            <a:off x="457200" y="4643434"/>
            <a:ext cx="16973608" cy="4357718"/>
          </a:xfrm>
        </p:spPr>
        <p:txBody>
          <a:bodyPr>
            <a:normAutofit/>
          </a:bodyPr>
          <a:lstStyle/>
          <a:p>
            <a:pPr>
              <a:buNone/>
            </a:pPr>
            <a:r>
              <a:rPr lang="en-US" dirty="0" smtClean="0">
                <a:solidFill>
                  <a:srgbClr val="C00000"/>
                </a:solidFill>
              </a:rPr>
              <a:t>TEAM MEMBERS                            UNDER THE GUIDANCE OF                                                                                                                                              </a:t>
            </a:r>
          </a:p>
          <a:p>
            <a:pPr>
              <a:buNone/>
            </a:pPr>
            <a:r>
              <a:rPr lang="en-US" smtClean="0">
                <a:solidFill>
                  <a:srgbClr val="C00000"/>
                </a:solidFill>
              </a:rPr>
              <a:t>SINCHANA AB                                 MURTHY P G SIR                                                                                                          </a:t>
            </a:r>
            <a:endParaRPr lang="en-US" dirty="0" smtClean="0">
              <a:solidFill>
                <a:srgbClr val="C00000"/>
              </a:solidFill>
            </a:endParaRPr>
          </a:p>
          <a:p>
            <a:pPr>
              <a:buNone/>
            </a:pPr>
            <a:r>
              <a:rPr lang="en-US" dirty="0" smtClean="0">
                <a:solidFill>
                  <a:srgbClr val="C00000"/>
                </a:solidFill>
              </a:rPr>
              <a:t>INDU A</a:t>
            </a:r>
          </a:p>
          <a:p>
            <a:pPr>
              <a:buNone/>
            </a:pPr>
            <a:r>
              <a:rPr lang="en-US" dirty="0" smtClean="0">
                <a:solidFill>
                  <a:srgbClr val="C00000"/>
                </a:solidFill>
              </a:rPr>
              <a:t>MUNAZZA KOUSAR</a:t>
            </a:r>
            <a:endParaRPr lang="en-US" dirty="0">
              <a:solidFill>
                <a:srgbClr val="C00000"/>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CONTENT</a:t>
            </a:r>
            <a:endParaRPr lang="en-US" dirty="0"/>
          </a:p>
        </p:txBody>
      </p:sp>
      <p:sp>
        <p:nvSpPr>
          <p:cNvPr id="3" name="Content Placeholder 2"/>
          <p:cNvSpPr>
            <a:spLocks noGrp="1"/>
          </p:cNvSpPr>
          <p:nvPr>
            <p:ph idx="1"/>
          </p:nvPr>
        </p:nvSpPr>
        <p:spPr/>
        <p:txBody>
          <a:bodyPr>
            <a:normAutofit lnSpcReduction="10000"/>
          </a:bodyPr>
          <a:lstStyle/>
          <a:p>
            <a:r>
              <a:rPr lang="en-US" dirty="0" smtClean="0"/>
              <a:t>INTRODUCTION</a:t>
            </a:r>
          </a:p>
          <a:p>
            <a:r>
              <a:rPr lang="en-US" dirty="0" smtClean="0"/>
              <a:t>CONSTRUCTION MANAGEMENT AND STATIC WEB</a:t>
            </a:r>
          </a:p>
          <a:p>
            <a:r>
              <a:rPr lang="en-US" dirty="0" smtClean="0"/>
              <a:t>SOLUTIONS</a:t>
            </a:r>
          </a:p>
          <a:p>
            <a:r>
              <a:rPr lang="en-US" dirty="0" smtClean="0"/>
              <a:t>KEY FEATURES</a:t>
            </a:r>
          </a:p>
          <a:p>
            <a:r>
              <a:rPr lang="en-US" dirty="0" smtClean="0"/>
              <a:t>DYNAMIC CONTENT</a:t>
            </a:r>
          </a:p>
          <a:p>
            <a:r>
              <a:rPr lang="en-US" dirty="0" smtClean="0"/>
              <a:t>ENGAGING UI/UX</a:t>
            </a:r>
          </a:p>
          <a:p>
            <a:r>
              <a:rPr lang="en-US" dirty="0" smtClean="0"/>
              <a:t>TECHNOLOGY STACKS</a:t>
            </a:r>
          </a:p>
          <a:p>
            <a:r>
              <a:rPr lang="en-US" dirty="0" smtClean="0"/>
              <a:t>BENEFITS</a:t>
            </a:r>
          </a:p>
          <a:p>
            <a:r>
              <a:rPr lang="en-US" dirty="0" smtClean="0"/>
              <a:t>CONCLUSIONS</a:t>
            </a:r>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DDD6CC"/>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FECE6"/>
            </a:solidFill>
          </p:spPr>
        </p:sp>
      </p:grpSp>
      <p:sp>
        <p:nvSpPr>
          <p:cNvPr id="6" name="Freeform 6" descr="preencoded.png"/>
          <p:cNvSpPr/>
          <p:nvPr/>
        </p:nvSpPr>
        <p:spPr>
          <a:xfrm>
            <a:off x="0" y="0"/>
            <a:ext cx="6858000" cy="10287000"/>
          </a:xfrm>
          <a:custGeom>
            <a:avLst/>
            <a:gdLst/>
            <a:ahLst/>
            <a:cxnLst/>
            <a:rect l="l" t="t" r="r" b="b"/>
            <a:pathLst>
              <a:path w="6858000" h="10287000">
                <a:moveTo>
                  <a:pt x="0" y="0"/>
                </a:moveTo>
                <a:lnTo>
                  <a:pt x="6858000" y="0"/>
                </a:lnTo>
                <a:lnTo>
                  <a:pt x="6858000" y="10287000"/>
                </a:lnTo>
                <a:lnTo>
                  <a:pt x="0" y="10287000"/>
                </a:lnTo>
                <a:lnTo>
                  <a:pt x="0" y="0"/>
                </a:lnTo>
                <a:close/>
              </a:path>
            </a:pathLst>
          </a:custGeom>
          <a:blipFill>
            <a:blip r:embed="rId3"/>
            <a:stretch>
              <a:fillRect/>
            </a:stretch>
          </a:blipFill>
        </p:spPr>
      </p:sp>
      <p:grpSp>
        <p:nvGrpSpPr>
          <p:cNvPr id="7" name="Group 7"/>
          <p:cNvGrpSpPr/>
          <p:nvPr/>
        </p:nvGrpSpPr>
        <p:grpSpPr>
          <a:xfrm>
            <a:off x="7850237" y="1822847"/>
            <a:ext cx="9445526" cy="1771947"/>
            <a:chOff x="0" y="0"/>
            <a:chExt cx="12594035" cy="2362597"/>
          </a:xfrm>
        </p:grpSpPr>
        <p:sp>
          <p:nvSpPr>
            <p:cNvPr id="8" name="Freeform 8"/>
            <p:cNvSpPr/>
            <p:nvPr/>
          </p:nvSpPr>
          <p:spPr>
            <a:xfrm>
              <a:off x="0" y="0"/>
              <a:ext cx="12594035" cy="2362597"/>
            </a:xfrm>
            <a:custGeom>
              <a:avLst/>
              <a:gdLst/>
              <a:ahLst/>
              <a:cxnLst/>
              <a:rect l="l" t="t" r="r" b="b"/>
              <a:pathLst>
                <a:path w="12594035" h="2362597">
                  <a:moveTo>
                    <a:pt x="0" y="0"/>
                  </a:moveTo>
                  <a:lnTo>
                    <a:pt x="12594035" y="0"/>
                  </a:lnTo>
                  <a:lnTo>
                    <a:pt x="12594035" y="2362597"/>
                  </a:lnTo>
                  <a:lnTo>
                    <a:pt x="0" y="2362597"/>
                  </a:lnTo>
                  <a:close/>
                </a:path>
              </a:pathLst>
            </a:custGeom>
            <a:solidFill>
              <a:srgbClr val="000000">
                <a:alpha val="0"/>
              </a:srgbClr>
            </a:solidFill>
          </p:spPr>
        </p:sp>
        <p:sp>
          <p:nvSpPr>
            <p:cNvPr id="9" name="TextBox 9"/>
            <p:cNvSpPr txBox="1"/>
            <p:nvPr/>
          </p:nvSpPr>
          <p:spPr>
            <a:xfrm>
              <a:off x="0" y="-38100"/>
              <a:ext cx="12594035" cy="2400697"/>
            </a:xfrm>
            <a:prstGeom prst="rect">
              <a:avLst/>
            </a:prstGeom>
          </p:spPr>
          <p:txBody>
            <a:bodyPr lIns="0" tIns="0" rIns="0" bIns="0" rtlCol="0" anchor="t"/>
            <a:lstStyle/>
            <a:p>
              <a:pPr algn="l">
                <a:lnSpc>
                  <a:spcPts val="6937"/>
                </a:lnSpc>
              </a:pPr>
              <a:r>
                <a:rPr lang="en-US" sz="5562" b="1" dirty="0">
                  <a:solidFill>
                    <a:srgbClr val="282824"/>
                  </a:solidFill>
                  <a:latin typeface="Lato Bold"/>
                  <a:ea typeface="Lato Bold"/>
                  <a:cs typeface="Lato Bold"/>
                  <a:sym typeface="Lato Bold"/>
                </a:rPr>
                <a:t>Construction Dynamic Project - Overview</a:t>
              </a:r>
            </a:p>
          </p:txBody>
        </p:sp>
      </p:grpSp>
      <p:grpSp>
        <p:nvGrpSpPr>
          <p:cNvPr id="10" name="Group 10"/>
          <p:cNvGrpSpPr/>
          <p:nvPr/>
        </p:nvGrpSpPr>
        <p:grpSpPr>
          <a:xfrm>
            <a:off x="7850237" y="4019996"/>
            <a:ext cx="9445526" cy="3629025"/>
            <a:chOff x="0" y="0"/>
            <a:chExt cx="12594035" cy="4838700"/>
          </a:xfrm>
        </p:grpSpPr>
        <p:sp>
          <p:nvSpPr>
            <p:cNvPr id="11" name="Freeform 11"/>
            <p:cNvSpPr/>
            <p:nvPr/>
          </p:nvSpPr>
          <p:spPr>
            <a:xfrm>
              <a:off x="0" y="0"/>
              <a:ext cx="12594035" cy="4838700"/>
            </a:xfrm>
            <a:custGeom>
              <a:avLst/>
              <a:gdLst/>
              <a:ahLst/>
              <a:cxnLst/>
              <a:rect l="l" t="t" r="r" b="b"/>
              <a:pathLst>
                <a:path w="12594035" h="4838700">
                  <a:moveTo>
                    <a:pt x="0" y="0"/>
                  </a:moveTo>
                  <a:lnTo>
                    <a:pt x="12594035" y="0"/>
                  </a:lnTo>
                  <a:lnTo>
                    <a:pt x="12594035" y="4838700"/>
                  </a:lnTo>
                  <a:lnTo>
                    <a:pt x="0" y="4838700"/>
                  </a:lnTo>
                  <a:close/>
                </a:path>
              </a:pathLst>
            </a:custGeom>
            <a:solidFill>
              <a:srgbClr val="000000">
                <a:alpha val="0"/>
              </a:srgbClr>
            </a:solidFill>
          </p:spPr>
        </p:sp>
        <p:sp>
          <p:nvSpPr>
            <p:cNvPr id="12" name="TextBox 12"/>
            <p:cNvSpPr txBox="1"/>
            <p:nvPr/>
          </p:nvSpPr>
          <p:spPr>
            <a:xfrm>
              <a:off x="0" y="-95250"/>
              <a:ext cx="12594035" cy="4933950"/>
            </a:xfrm>
            <a:prstGeom prst="rect">
              <a:avLst/>
            </a:prstGeom>
          </p:spPr>
          <p:txBody>
            <a:bodyPr lIns="0" tIns="0" rIns="0" bIns="0" rtlCol="0" anchor="t"/>
            <a:lstStyle/>
            <a:p>
              <a:pPr algn="l">
                <a:lnSpc>
                  <a:spcPts val="3562"/>
                </a:lnSpc>
              </a:pPr>
              <a:r>
                <a:rPr lang="en-US" sz="2187">
                  <a:solidFill>
                    <a:srgbClr val="4A4A45"/>
                  </a:solidFill>
                  <a:latin typeface="Lato"/>
                  <a:ea typeface="Lato"/>
                  <a:cs typeface="Lato"/>
                  <a:sym typeface="Lato"/>
                </a:rPr>
                <a:t>The Construction Dynamic Project is a comprehensive construction company management system designed to streamline operations and enhance digital presence. It offers a powerful admin dashboard that enables dynamic management of projects, blogs, testimonials, and image content. The frontend website presents all this content through an engaging UI/UX design, offering visitors a modern and seamless browsing experience. This project aims to transform static, inefficient construction websites into vibrant, interactive platforms that empower both administrators and users.</a:t>
              </a:r>
            </a:p>
          </p:txBody>
        </p:sp>
      </p:gr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DDD6CC"/>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FECE6"/>
            </a:solidFill>
          </p:spPr>
        </p:sp>
      </p:grpSp>
      <p:sp>
        <p:nvSpPr>
          <p:cNvPr id="6" name="Freeform 6" descr="preencoded.png"/>
          <p:cNvSpPr/>
          <p:nvPr/>
        </p:nvSpPr>
        <p:spPr>
          <a:xfrm>
            <a:off x="0" y="0"/>
            <a:ext cx="18288000" cy="3544044"/>
          </a:xfrm>
          <a:custGeom>
            <a:avLst/>
            <a:gdLst/>
            <a:ahLst/>
            <a:cxnLst/>
            <a:rect l="l" t="t" r="r" b="b"/>
            <a:pathLst>
              <a:path w="18288000" h="3544044">
                <a:moveTo>
                  <a:pt x="0" y="0"/>
                </a:moveTo>
                <a:lnTo>
                  <a:pt x="18288000" y="0"/>
                </a:lnTo>
                <a:lnTo>
                  <a:pt x="18288000" y="3544044"/>
                </a:lnTo>
                <a:lnTo>
                  <a:pt x="0" y="3544044"/>
                </a:lnTo>
                <a:lnTo>
                  <a:pt x="0" y="0"/>
                </a:lnTo>
                <a:close/>
              </a:path>
            </a:pathLst>
          </a:custGeom>
          <a:blipFill>
            <a:blip r:embed="rId3"/>
            <a:stretch>
              <a:fillRect l="-10" r="-10"/>
            </a:stretch>
          </a:blipFill>
        </p:spPr>
      </p:sp>
      <p:grpSp>
        <p:nvGrpSpPr>
          <p:cNvPr id="7" name="Group 7"/>
          <p:cNvGrpSpPr/>
          <p:nvPr/>
        </p:nvGrpSpPr>
        <p:grpSpPr>
          <a:xfrm>
            <a:off x="992238" y="4327624"/>
            <a:ext cx="16303526" cy="1771947"/>
            <a:chOff x="0" y="0"/>
            <a:chExt cx="21738035" cy="2362597"/>
          </a:xfrm>
        </p:grpSpPr>
        <p:sp>
          <p:nvSpPr>
            <p:cNvPr id="8" name="Freeform 8"/>
            <p:cNvSpPr/>
            <p:nvPr/>
          </p:nvSpPr>
          <p:spPr>
            <a:xfrm>
              <a:off x="0" y="0"/>
              <a:ext cx="21738034" cy="2362597"/>
            </a:xfrm>
            <a:custGeom>
              <a:avLst/>
              <a:gdLst/>
              <a:ahLst/>
              <a:cxnLst/>
              <a:rect l="l" t="t" r="r" b="b"/>
              <a:pathLst>
                <a:path w="21738034" h="2362597">
                  <a:moveTo>
                    <a:pt x="0" y="0"/>
                  </a:moveTo>
                  <a:lnTo>
                    <a:pt x="21738034" y="0"/>
                  </a:lnTo>
                  <a:lnTo>
                    <a:pt x="21738034" y="2362597"/>
                  </a:lnTo>
                  <a:lnTo>
                    <a:pt x="0" y="2362597"/>
                  </a:lnTo>
                  <a:close/>
                </a:path>
              </a:pathLst>
            </a:custGeom>
            <a:solidFill>
              <a:srgbClr val="000000">
                <a:alpha val="0"/>
              </a:srgbClr>
            </a:solidFill>
          </p:spPr>
        </p:sp>
        <p:sp>
          <p:nvSpPr>
            <p:cNvPr id="9" name="TextBox 9"/>
            <p:cNvSpPr txBox="1"/>
            <p:nvPr/>
          </p:nvSpPr>
          <p:spPr>
            <a:xfrm>
              <a:off x="0" y="-38100"/>
              <a:ext cx="21738035" cy="2400697"/>
            </a:xfrm>
            <a:prstGeom prst="rect">
              <a:avLst/>
            </a:prstGeom>
          </p:spPr>
          <p:txBody>
            <a:bodyPr lIns="0" tIns="0" rIns="0" bIns="0" rtlCol="0" anchor="t"/>
            <a:lstStyle/>
            <a:p>
              <a:pPr algn="l">
                <a:lnSpc>
                  <a:spcPts val="6937"/>
                </a:lnSpc>
              </a:pPr>
              <a:r>
                <a:rPr lang="en-US" sz="5562" b="1">
                  <a:solidFill>
                    <a:srgbClr val="282824"/>
                  </a:solidFill>
                  <a:latin typeface="Lato Bold"/>
                  <a:ea typeface="Lato Bold"/>
                  <a:cs typeface="Lato Bold"/>
                  <a:sym typeface="Lato Bold"/>
                </a:rPr>
                <a:t>The Problem: Inefficient Construction Management &amp; Static Websites</a:t>
              </a:r>
            </a:p>
          </p:txBody>
        </p:sp>
      </p:grpSp>
      <p:grpSp>
        <p:nvGrpSpPr>
          <p:cNvPr id="10" name="Group 10"/>
          <p:cNvGrpSpPr/>
          <p:nvPr/>
        </p:nvGrpSpPr>
        <p:grpSpPr>
          <a:xfrm>
            <a:off x="992238" y="6524774"/>
            <a:ext cx="637878" cy="637878"/>
            <a:chOff x="0" y="0"/>
            <a:chExt cx="850503" cy="850503"/>
          </a:xfrm>
        </p:grpSpPr>
        <p:sp>
          <p:nvSpPr>
            <p:cNvPr id="11" name="Freeform 11"/>
            <p:cNvSpPr/>
            <p:nvPr/>
          </p:nvSpPr>
          <p:spPr>
            <a:xfrm>
              <a:off x="0" y="0"/>
              <a:ext cx="850392" cy="850519"/>
            </a:xfrm>
            <a:custGeom>
              <a:avLst/>
              <a:gdLst/>
              <a:ahLst/>
              <a:cxnLst/>
              <a:rect l="l" t="t" r="r" b="b"/>
              <a:pathLst>
                <a:path w="850392" h="850519">
                  <a:moveTo>
                    <a:pt x="0" y="56642"/>
                  </a:moveTo>
                  <a:cubicBezTo>
                    <a:pt x="0" y="25400"/>
                    <a:pt x="25400" y="0"/>
                    <a:pt x="56642" y="0"/>
                  </a:cubicBezTo>
                  <a:lnTo>
                    <a:pt x="793750" y="0"/>
                  </a:lnTo>
                  <a:cubicBezTo>
                    <a:pt x="825119" y="0"/>
                    <a:pt x="850392" y="25400"/>
                    <a:pt x="850392" y="56642"/>
                  </a:cubicBezTo>
                  <a:lnTo>
                    <a:pt x="850392" y="793750"/>
                  </a:lnTo>
                  <a:cubicBezTo>
                    <a:pt x="850392" y="825119"/>
                    <a:pt x="824992" y="850392"/>
                    <a:pt x="793750" y="850392"/>
                  </a:cubicBezTo>
                  <a:lnTo>
                    <a:pt x="56642" y="850392"/>
                  </a:lnTo>
                  <a:cubicBezTo>
                    <a:pt x="25400" y="850519"/>
                    <a:pt x="0" y="825119"/>
                    <a:pt x="0" y="793750"/>
                  </a:cubicBezTo>
                  <a:close/>
                </a:path>
              </a:pathLst>
            </a:custGeom>
            <a:solidFill>
              <a:srgbClr val="E5DFD2"/>
            </a:solidFill>
          </p:spPr>
        </p:sp>
      </p:grpSp>
      <p:grpSp>
        <p:nvGrpSpPr>
          <p:cNvPr id="12" name="Group 12"/>
          <p:cNvGrpSpPr/>
          <p:nvPr/>
        </p:nvGrpSpPr>
        <p:grpSpPr>
          <a:xfrm>
            <a:off x="1913632" y="6622108"/>
            <a:ext cx="3705969" cy="442912"/>
            <a:chOff x="0" y="0"/>
            <a:chExt cx="4941292" cy="590550"/>
          </a:xfrm>
        </p:grpSpPr>
        <p:sp>
          <p:nvSpPr>
            <p:cNvPr id="13" name="Freeform 13"/>
            <p:cNvSpPr/>
            <p:nvPr/>
          </p:nvSpPr>
          <p:spPr>
            <a:xfrm>
              <a:off x="0" y="0"/>
              <a:ext cx="4941292" cy="590550"/>
            </a:xfrm>
            <a:custGeom>
              <a:avLst/>
              <a:gdLst/>
              <a:ahLst/>
              <a:cxnLst/>
              <a:rect l="l" t="t" r="r" b="b"/>
              <a:pathLst>
                <a:path w="4941292" h="590550">
                  <a:moveTo>
                    <a:pt x="0" y="0"/>
                  </a:moveTo>
                  <a:lnTo>
                    <a:pt x="4941292" y="0"/>
                  </a:lnTo>
                  <a:lnTo>
                    <a:pt x="4941292" y="590550"/>
                  </a:lnTo>
                  <a:lnTo>
                    <a:pt x="0" y="590550"/>
                  </a:lnTo>
                  <a:close/>
                </a:path>
              </a:pathLst>
            </a:custGeom>
            <a:solidFill>
              <a:srgbClr val="000000">
                <a:alpha val="0"/>
              </a:srgbClr>
            </a:solidFill>
          </p:spPr>
        </p:sp>
        <p:sp>
          <p:nvSpPr>
            <p:cNvPr id="14" name="TextBox 14"/>
            <p:cNvSpPr txBox="1"/>
            <p:nvPr/>
          </p:nvSpPr>
          <p:spPr>
            <a:xfrm>
              <a:off x="0" y="-19050"/>
              <a:ext cx="4941292" cy="609600"/>
            </a:xfrm>
            <a:prstGeom prst="rect">
              <a:avLst/>
            </a:prstGeom>
          </p:spPr>
          <p:txBody>
            <a:bodyPr lIns="0" tIns="0" rIns="0" bIns="0" rtlCol="0" anchor="t"/>
            <a:lstStyle/>
            <a:p>
              <a:pPr algn="l">
                <a:lnSpc>
                  <a:spcPts val="3437"/>
                </a:lnSpc>
              </a:pPr>
              <a:r>
                <a:rPr lang="en-US" sz="2750" b="1">
                  <a:solidFill>
                    <a:srgbClr val="4A4A45"/>
                  </a:solidFill>
                  <a:latin typeface="Lato Bold"/>
                  <a:ea typeface="Lato Bold"/>
                  <a:cs typeface="Lato Bold"/>
                  <a:sym typeface="Lato Bold"/>
                </a:rPr>
                <a:t>Outdated Management</a:t>
              </a:r>
            </a:p>
          </p:txBody>
        </p:sp>
      </p:grpSp>
      <p:grpSp>
        <p:nvGrpSpPr>
          <p:cNvPr id="15" name="Group 15"/>
          <p:cNvGrpSpPr/>
          <p:nvPr/>
        </p:nvGrpSpPr>
        <p:grpSpPr>
          <a:xfrm>
            <a:off x="1913632" y="7235130"/>
            <a:ext cx="4276874" cy="2268141"/>
            <a:chOff x="0" y="0"/>
            <a:chExt cx="5702498" cy="3024188"/>
          </a:xfrm>
        </p:grpSpPr>
        <p:sp>
          <p:nvSpPr>
            <p:cNvPr id="16" name="Freeform 16"/>
            <p:cNvSpPr/>
            <p:nvPr/>
          </p:nvSpPr>
          <p:spPr>
            <a:xfrm>
              <a:off x="0" y="0"/>
              <a:ext cx="5702498" cy="3024188"/>
            </a:xfrm>
            <a:custGeom>
              <a:avLst/>
              <a:gdLst/>
              <a:ahLst/>
              <a:cxnLst/>
              <a:rect l="l" t="t" r="r" b="b"/>
              <a:pathLst>
                <a:path w="5702498" h="3024188">
                  <a:moveTo>
                    <a:pt x="0" y="0"/>
                  </a:moveTo>
                  <a:lnTo>
                    <a:pt x="5702498" y="0"/>
                  </a:lnTo>
                  <a:lnTo>
                    <a:pt x="5702498" y="3024188"/>
                  </a:lnTo>
                  <a:lnTo>
                    <a:pt x="0" y="3024188"/>
                  </a:lnTo>
                  <a:close/>
                </a:path>
              </a:pathLst>
            </a:custGeom>
            <a:solidFill>
              <a:srgbClr val="000000">
                <a:alpha val="0"/>
              </a:srgbClr>
            </a:solidFill>
          </p:spPr>
        </p:sp>
        <p:sp>
          <p:nvSpPr>
            <p:cNvPr id="17" name="TextBox 17"/>
            <p:cNvSpPr txBox="1"/>
            <p:nvPr/>
          </p:nvSpPr>
          <p:spPr>
            <a:xfrm>
              <a:off x="0" y="-95250"/>
              <a:ext cx="5702498" cy="3119438"/>
            </a:xfrm>
            <a:prstGeom prst="rect">
              <a:avLst/>
            </a:prstGeom>
          </p:spPr>
          <p:txBody>
            <a:bodyPr lIns="0" tIns="0" rIns="0" bIns="0" rtlCol="0" anchor="t"/>
            <a:lstStyle/>
            <a:p>
              <a:pPr algn="l">
                <a:lnSpc>
                  <a:spcPts val="3562"/>
                </a:lnSpc>
              </a:pPr>
              <a:r>
                <a:rPr lang="en-US" sz="2187">
                  <a:solidFill>
                    <a:srgbClr val="4A4A45"/>
                  </a:solidFill>
                  <a:latin typeface="Lato"/>
                  <a:ea typeface="Lato"/>
                  <a:cs typeface="Lato"/>
                  <a:sym typeface="Lato"/>
                </a:rPr>
                <a:t>Many construction companies rely on manual tracking and fragmented tools, leading to delays and errors in project oversight.</a:t>
              </a:r>
            </a:p>
          </p:txBody>
        </p:sp>
      </p:grpSp>
      <p:grpSp>
        <p:nvGrpSpPr>
          <p:cNvPr id="18" name="Group 18"/>
          <p:cNvGrpSpPr/>
          <p:nvPr/>
        </p:nvGrpSpPr>
        <p:grpSpPr>
          <a:xfrm>
            <a:off x="6544866" y="6524774"/>
            <a:ext cx="637878" cy="637878"/>
            <a:chOff x="0" y="0"/>
            <a:chExt cx="850503" cy="850503"/>
          </a:xfrm>
        </p:grpSpPr>
        <p:sp>
          <p:nvSpPr>
            <p:cNvPr id="19" name="Freeform 19"/>
            <p:cNvSpPr/>
            <p:nvPr/>
          </p:nvSpPr>
          <p:spPr>
            <a:xfrm>
              <a:off x="0" y="0"/>
              <a:ext cx="850392" cy="850519"/>
            </a:xfrm>
            <a:custGeom>
              <a:avLst/>
              <a:gdLst/>
              <a:ahLst/>
              <a:cxnLst/>
              <a:rect l="l" t="t" r="r" b="b"/>
              <a:pathLst>
                <a:path w="850392" h="850519">
                  <a:moveTo>
                    <a:pt x="0" y="56642"/>
                  </a:moveTo>
                  <a:cubicBezTo>
                    <a:pt x="0" y="25400"/>
                    <a:pt x="25400" y="0"/>
                    <a:pt x="56642" y="0"/>
                  </a:cubicBezTo>
                  <a:lnTo>
                    <a:pt x="793750" y="0"/>
                  </a:lnTo>
                  <a:cubicBezTo>
                    <a:pt x="825119" y="0"/>
                    <a:pt x="850392" y="25400"/>
                    <a:pt x="850392" y="56642"/>
                  </a:cubicBezTo>
                  <a:lnTo>
                    <a:pt x="850392" y="793750"/>
                  </a:lnTo>
                  <a:cubicBezTo>
                    <a:pt x="850392" y="825119"/>
                    <a:pt x="824992" y="850392"/>
                    <a:pt x="793750" y="850392"/>
                  </a:cubicBezTo>
                  <a:lnTo>
                    <a:pt x="56642" y="850392"/>
                  </a:lnTo>
                  <a:cubicBezTo>
                    <a:pt x="25400" y="850519"/>
                    <a:pt x="0" y="825119"/>
                    <a:pt x="0" y="793750"/>
                  </a:cubicBezTo>
                  <a:close/>
                </a:path>
              </a:pathLst>
            </a:custGeom>
            <a:solidFill>
              <a:srgbClr val="E5DFD2"/>
            </a:solidFill>
          </p:spPr>
        </p:sp>
      </p:grpSp>
      <p:grpSp>
        <p:nvGrpSpPr>
          <p:cNvPr id="20" name="Group 20"/>
          <p:cNvGrpSpPr/>
          <p:nvPr/>
        </p:nvGrpSpPr>
        <p:grpSpPr>
          <a:xfrm>
            <a:off x="7466260" y="6622108"/>
            <a:ext cx="3544044" cy="442912"/>
            <a:chOff x="0" y="0"/>
            <a:chExt cx="4725392" cy="590550"/>
          </a:xfrm>
        </p:grpSpPr>
        <p:sp>
          <p:nvSpPr>
            <p:cNvPr id="21" name="Freeform 21"/>
            <p:cNvSpPr/>
            <p:nvPr/>
          </p:nvSpPr>
          <p:spPr>
            <a:xfrm>
              <a:off x="0" y="0"/>
              <a:ext cx="4725392" cy="590550"/>
            </a:xfrm>
            <a:custGeom>
              <a:avLst/>
              <a:gdLst/>
              <a:ahLst/>
              <a:cxnLst/>
              <a:rect l="l" t="t" r="r" b="b"/>
              <a:pathLst>
                <a:path w="4725392" h="590550">
                  <a:moveTo>
                    <a:pt x="0" y="0"/>
                  </a:moveTo>
                  <a:lnTo>
                    <a:pt x="4725392" y="0"/>
                  </a:lnTo>
                  <a:lnTo>
                    <a:pt x="4725392" y="590550"/>
                  </a:lnTo>
                  <a:lnTo>
                    <a:pt x="0" y="590550"/>
                  </a:lnTo>
                  <a:close/>
                </a:path>
              </a:pathLst>
            </a:custGeom>
            <a:solidFill>
              <a:srgbClr val="000000">
                <a:alpha val="0"/>
              </a:srgbClr>
            </a:solidFill>
          </p:spPr>
        </p:sp>
        <p:sp>
          <p:nvSpPr>
            <p:cNvPr id="22" name="TextBox 22"/>
            <p:cNvSpPr txBox="1"/>
            <p:nvPr/>
          </p:nvSpPr>
          <p:spPr>
            <a:xfrm>
              <a:off x="0" y="-19050"/>
              <a:ext cx="4725392" cy="609600"/>
            </a:xfrm>
            <a:prstGeom prst="rect">
              <a:avLst/>
            </a:prstGeom>
          </p:spPr>
          <p:txBody>
            <a:bodyPr lIns="0" tIns="0" rIns="0" bIns="0" rtlCol="0" anchor="t"/>
            <a:lstStyle/>
            <a:p>
              <a:pPr algn="l">
                <a:lnSpc>
                  <a:spcPts val="3437"/>
                </a:lnSpc>
              </a:pPr>
              <a:r>
                <a:rPr lang="en-US" sz="2750" b="1">
                  <a:solidFill>
                    <a:srgbClr val="4A4A45"/>
                  </a:solidFill>
                  <a:latin typeface="Lato Bold"/>
                  <a:ea typeface="Lato Bold"/>
                  <a:cs typeface="Lato Bold"/>
                  <a:sym typeface="Lato Bold"/>
                </a:rPr>
                <a:t>Static Websites</a:t>
              </a:r>
            </a:p>
          </p:txBody>
        </p:sp>
      </p:grpSp>
      <p:grpSp>
        <p:nvGrpSpPr>
          <p:cNvPr id="23" name="Group 23"/>
          <p:cNvGrpSpPr/>
          <p:nvPr/>
        </p:nvGrpSpPr>
        <p:grpSpPr>
          <a:xfrm>
            <a:off x="7466260" y="7235130"/>
            <a:ext cx="4276874" cy="1814512"/>
            <a:chOff x="0" y="0"/>
            <a:chExt cx="5702498" cy="2419350"/>
          </a:xfrm>
        </p:grpSpPr>
        <p:sp>
          <p:nvSpPr>
            <p:cNvPr id="24" name="Freeform 24"/>
            <p:cNvSpPr/>
            <p:nvPr/>
          </p:nvSpPr>
          <p:spPr>
            <a:xfrm>
              <a:off x="0" y="0"/>
              <a:ext cx="5702498" cy="2419350"/>
            </a:xfrm>
            <a:custGeom>
              <a:avLst/>
              <a:gdLst/>
              <a:ahLst/>
              <a:cxnLst/>
              <a:rect l="l" t="t" r="r" b="b"/>
              <a:pathLst>
                <a:path w="5702498" h="2419350">
                  <a:moveTo>
                    <a:pt x="0" y="0"/>
                  </a:moveTo>
                  <a:lnTo>
                    <a:pt x="5702498" y="0"/>
                  </a:lnTo>
                  <a:lnTo>
                    <a:pt x="5702498" y="2419350"/>
                  </a:lnTo>
                  <a:lnTo>
                    <a:pt x="0" y="2419350"/>
                  </a:lnTo>
                  <a:close/>
                </a:path>
              </a:pathLst>
            </a:custGeom>
            <a:solidFill>
              <a:srgbClr val="000000">
                <a:alpha val="0"/>
              </a:srgbClr>
            </a:solidFill>
          </p:spPr>
        </p:sp>
        <p:sp>
          <p:nvSpPr>
            <p:cNvPr id="25" name="TextBox 25"/>
            <p:cNvSpPr txBox="1"/>
            <p:nvPr/>
          </p:nvSpPr>
          <p:spPr>
            <a:xfrm>
              <a:off x="0" y="-95250"/>
              <a:ext cx="5702498" cy="2514600"/>
            </a:xfrm>
            <a:prstGeom prst="rect">
              <a:avLst/>
            </a:prstGeom>
          </p:spPr>
          <p:txBody>
            <a:bodyPr lIns="0" tIns="0" rIns="0" bIns="0" rtlCol="0" anchor="t"/>
            <a:lstStyle/>
            <a:p>
              <a:pPr algn="l">
                <a:lnSpc>
                  <a:spcPts val="3562"/>
                </a:lnSpc>
              </a:pPr>
              <a:r>
                <a:rPr lang="en-US" sz="2187">
                  <a:solidFill>
                    <a:srgbClr val="4A4A45"/>
                  </a:solidFill>
                  <a:latin typeface="Lato"/>
                  <a:ea typeface="Lato"/>
                  <a:cs typeface="Lato"/>
                  <a:sym typeface="Lato"/>
                </a:rPr>
                <a:t>Static websites fail to reflect ongoing projects or fresh content dynamically, resulting in poor online engagement.</a:t>
              </a:r>
            </a:p>
          </p:txBody>
        </p:sp>
      </p:grpSp>
      <p:grpSp>
        <p:nvGrpSpPr>
          <p:cNvPr id="26" name="Group 26"/>
          <p:cNvGrpSpPr/>
          <p:nvPr/>
        </p:nvGrpSpPr>
        <p:grpSpPr>
          <a:xfrm>
            <a:off x="12097494" y="6524774"/>
            <a:ext cx="637877" cy="637878"/>
            <a:chOff x="0" y="0"/>
            <a:chExt cx="850503" cy="850503"/>
          </a:xfrm>
        </p:grpSpPr>
        <p:sp>
          <p:nvSpPr>
            <p:cNvPr id="27" name="Freeform 27"/>
            <p:cNvSpPr/>
            <p:nvPr/>
          </p:nvSpPr>
          <p:spPr>
            <a:xfrm>
              <a:off x="0" y="0"/>
              <a:ext cx="850392" cy="850519"/>
            </a:xfrm>
            <a:custGeom>
              <a:avLst/>
              <a:gdLst/>
              <a:ahLst/>
              <a:cxnLst/>
              <a:rect l="l" t="t" r="r" b="b"/>
              <a:pathLst>
                <a:path w="850392" h="850519">
                  <a:moveTo>
                    <a:pt x="0" y="56642"/>
                  </a:moveTo>
                  <a:cubicBezTo>
                    <a:pt x="0" y="25400"/>
                    <a:pt x="25400" y="0"/>
                    <a:pt x="56642" y="0"/>
                  </a:cubicBezTo>
                  <a:lnTo>
                    <a:pt x="793750" y="0"/>
                  </a:lnTo>
                  <a:cubicBezTo>
                    <a:pt x="825119" y="0"/>
                    <a:pt x="850392" y="25400"/>
                    <a:pt x="850392" y="56642"/>
                  </a:cubicBezTo>
                  <a:lnTo>
                    <a:pt x="850392" y="793750"/>
                  </a:lnTo>
                  <a:cubicBezTo>
                    <a:pt x="850392" y="825119"/>
                    <a:pt x="824992" y="850392"/>
                    <a:pt x="793750" y="850392"/>
                  </a:cubicBezTo>
                  <a:lnTo>
                    <a:pt x="56642" y="850392"/>
                  </a:lnTo>
                  <a:cubicBezTo>
                    <a:pt x="25400" y="850519"/>
                    <a:pt x="0" y="825119"/>
                    <a:pt x="0" y="793750"/>
                  </a:cubicBezTo>
                  <a:close/>
                </a:path>
              </a:pathLst>
            </a:custGeom>
            <a:solidFill>
              <a:srgbClr val="E5DFD2"/>
            </a:solidFill>
          </p:spPr>
        </p:sp>
      </p:grpSp>
      <p:grpSp>
        <p:nvGrpSpPr>
          <p:cNvPr id="28" name="Group 28"/>
          <p:cNvGrpSpPr/>
          <p:nvPr/>
        </p:nvGrpSpPr>
        <p:grpSpPr>
          <a:xfrm>
            <a:off x="13018889" y="6622108"/>
            <a:ext cx="3862982" cy="442912"/>
            <a:chOff x="0" y="0"/>
            <a:chExt cx="5150643" cy="590550"/>
          </a:xfrm>
        </p:grpSpPr>
        <p:sp>
          <p:nvSpPr>
            <p:cNvPr id="29" name="Freeform 29"/>
            <p:cNvSpPr/>
            <p:nvPr/>
          </p:nvSpPr>
          <p:spPr>
            <a:xfrm>
              <a:off x="0" y="0"/>
              <a:ext cx="5150643" cy="590550"/>
            </a:xfrm>
            <a:custGeom>
              <a:avLst/>
              <a:gdLst/>
              <a:ahLst/>
              <a:cxnLst/>
              <a:rect l="l" t="t" r="r" b="b"/>
              <a:pathLst>
                <a:path w="5150643" h="590550">
                  <a:moveTo>
                    <a:pt x="0" y="0"/>
                  </a:moveTo>
                  <a:lnTo>
                    <a:pt x="5150643" y="0"/>
                  </a:lnTo>
                  <a:lnTo>
                    <a:pt x="5150643" y="590550"/>
                  </a:lnTo>
                  <a:lnTo>
                    <a:pt x="0" y="590550"/>
                  </a:lnTo>
                  <a:close/>
                </a:path>
              </a:pathLst>
            </a:custGeom>
            <a:solidFill>
              <a:srgbClr val="000000">
                <a:alpha val="0"/>
              </a:srgbClr>
            </a:solidFill>
          </p:spPr>
        </p:sp>
        <p:sp>
          <p:nvSpPr>
            <p:cNvPr id="30" name="TextBox 30"/>
            <p:cNvSpPr txBox="1"/>
            <p:nvPr/>
          </p:nvSpPr>
          <p:spPr>
            <a:xfrm>
              <a:off x="0" y="-19050"/>
              <a:ext cx="5150643" cy="609600"/>
            </a:xfrm>
            <a:prstGeom prst="rect">
              <a:avLst/>
            </a:prstGeom>
          </p:spPr>
          <p:txBody>
            <a:bodyPr lIns="0" tIns="0" rIns="0" bIns="0" rtlCol="0" anchor="t"/>
            <a:lstStyle/>
            <a:p>
              <a:pPr algn="l">
                <a:lnSpc>
                  <a:spcPts val="3437"/>
                </a:lnSpc>
              </a:pPr>
              <a:r>
                <a:rPr lang="en-US" sz="2750" b="1">
                  <a:solidFill>
                    <a:srgbClr val="4A4A45"/>
                  </a:solidFill>
                  <a:latin typeface="Lato Bold"/>
                  <a:ea typeface="Lato Bold"/>
                  <a:cs typeface="Lato Bold"/>
                  <a:sym typeface="Lato Bold"/>
                </a:rPr>
                <a:t>Limited Content Control</a:t>
              </a:r>
            </a:p>
          </p:txBody>
        </p:sp>
      </p:grpSp>
      <p:grpSp>
        <p:nvGrpSpPr>
          <p:cNvPr id="31" name="Group 31"/>
          <p:cNvGrpSpPr/>
          <p:nvPr/>
        </p:nvGrpSpPr>
        <p:grpSpPr>
          <a:xfrm>
            <a:off x="13018889" y="7235130"/>
            <a:ext cx="4276874" cy="2268141"/>
            <a:chOff x="0" y="0"/>
            <a:chExt cx="5702498" cy="3024188"/>
          </a:xfrm>
        </p:grpSpPr>
        <p:sp>
          <p:nvSpPr>
            <p:cNvPr id="32" name="Freeform 32"/>
            <p:cNvSpPr/>
            <p:nvPr/>
          </p:nvSpPr>
          <p:spPr>
            <a:xfrm>
              <a:off x="0" y="0"/>
              <a:ext cx="5702498" cy="3024188"/>
            </a:xfrm>
            <a:custGeom>
              <a:avLst/>
              <a:gdLst/>
              <a:ahLst/>
              <a:cxnLst/>
              <a:rect l="l" t="t" r="r" b="b"/>
              <a:pathLst>
                <a:path w="5702498" h="3024188">
                  <a:moveTo>
                    <a:pt x="0" y="0"/>
                  </a:moveTo>
                  <a:lnTo>
                    <a:pt x="5702498" y="0"/>
                  </a:lnTo>
                  <a:lnTo>
                    <a:pt x="5702498" y="3024188"/>
                  </a:lnTo>
                  <a:lnTo>
                    <a:pt x="0" y="3024188"/>
                  </a:lnTo>
                  <a:close/>
                </a:path>
              </a:pathLst>
            </a:custGeom>
            <a:solidFill>
              <a:srgbClr val="000000">
                <a:alpha val="0"/>
              </a:srgbClr>
            </a:solidFill>
          </p:spPr>
        </p:sp>
        <p:sp>
          <p:nvSpPr>
            <p:cNvPr id="33" name="TextBox 33"/>
            <p:cNvSpPr txBox="1"/>
            <p:nvPr/>
          </p:nvSpPr>
          <p:spPr>
            <a:xfrm>
              <a:off x="0" y="-95250"/>
              <a:ext cx="5702498" cy="3119438"/>
            </a:xfrm>
            <a:prstGeom prst="rect">
              <a:avLst/>
            </a:prstGeom>
          </p:spPr>
          <p:txBody>
            <a:bodyPr lIns="0" tIns="0" rIns="0" bIns="0" rtlCol="0" anchor="t"/>
            <a:lstStyle/>
            <a:p>
              <a:pPr algn="l">
                <a:lnSpc>
                  <a:spcPts val="3562"/>
                </a:lnSpc>
              </a:pPr>
              <a:r>
                <a:rPr lang="en-US" sz="2187">
                  <a:solidFill>
                    <a:srgbClr val="4A4A45"/>
                  </a:solidFill>
                  <a:latin typeface="Lato"/>
                  <a:ea typeface="Lato"/>
                  <a:cs typeface="Lato"/>
                  <a:sym typeface="Lato"/>
                </a:rPr>
                <a:t>Admin teams struggle to frequently update blogs, testimonials, or images without developer reliance, decreasing agility.</a:t>
              </a:r>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DDD6CC"/>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FECE6"/>
            </a:solidFill>
          </p:spPr>
        </p:sp>
      </p:grpSp>
      <p:grpSp>
        <p:nvGrpSpPr>
          <p:cNvPr id="6" name="Group 6"/>
          <p:cNvGrpSpPr/>
          <p:nvPr/>
        </p:nvGrpSpPr>
        <p:grpSpPr>
          <a:xfrm>
            <a:off x="992238" y="2731889"/>
            <a:ext cx="16303526" cy="1771947"/>
            <a:chOff x="0" y="0"/>
            <a:chExt cx="21738035" cy="2362597"/>
          </a:xfrm>
        </p:grpSpPr>
        <p:sp>
          <p:nvSpPr>
            <p:cNvPr id="7" name="Freeform 7"/>
            <p:cNvSpPr/>
            <p:nvPr/>
          </p:nvSpPr>
          <p:spPr>
            <a:xfrm>
              <a:off x="0" y="0"/>
              <a:ext cx="21738034" cy="2362597"/>
            </a:xfrm>
            <a:custGeom>
              <a:avLst/>
              <a:gdLst/>
              <a:ahLst/>
              <a:cxnLst/>
              <a:rect l="l" t="t" r="r" b="b"/>
              <a:pathLst>
                <a:path w="21738034" h="2362597">
                  <a:moveTo>
                    <a:pt x="0" y="0"/>
                  </a:moveTo>
                  <a:lnTo>
                    <a:pt x="21738034" y="0"/>
                  </a:lnTo>
                  <a:lnTo>
                    <a:pt x="21738034" y="2362597"/>
                  </a:lnTo>
                  <a:lnTo>
                    <a:pt x="0" y="2362597"/>
                  </a:lnTo>
                  <a:close/>
                </a:path>
              </a:pathLst>
            </a:custGeom>
            <a:solidFill>
              <a:srgbClr val="000000">
                <a:alpha val="0"/>
              </a:srgbClr>
            </a:solidFill>
          </p:spPr>
        </p:sp>
        <p:sp>
          <p:nvSpPr>
            <p:cNvPr id="8" name="TextBox 8"/>
            <p:cNvSpPr txBox="1"/>
            <p:nvPr/>
          </p:nvSpPr>
          <p:spPr>
            <a:xfrm>
              <a:off x="0" y="-38100"/>
              <a:ext cx="21738035" cy="2400697"/>
            </a:xfrm>
            <a:prstGeom prst="rect">
              <a:avLst/>
            </a:prstGeom>
          </p:spPr>
          <p:txBody>
            <a:bodyPr lIns="0" tIns="0" rIns="0" bIns="0" rtlCol="0" anchor="t"/>
            <a:lstStyle/>
            <a:p>
              <a:pPr algn="l">
                <a:lnSpc>
                  <a:spcPts val="6937"/>
                </a:lnSpc>
              </a:pPr>
              <a:r>
                <a:rPr lang="en-US" sz="5562" b="1">
                  <a:solidFill>
                    <a:srgbClr val="282824"/>
                  </a:solidFill>
                  <a:latin typeface="Lato Bold"/>
                  <a:ea typeface="Lato Bold"/>
                  <a:cs typeface="Lato Bold"/>
                  <a:sym typeface="Lato Bold"/>
                </a:rPr>
                <a:t>Our Solution: A Dynamic Management System &amp; Engaging Frontend</a:t>
              </a:r>
            </a:p>
          </p:txBody>
        </p:sp>
      </p:grpSp>
      <p:grpSp>
        <p:nvGrpSpPr>
          <p:cNvPr id="9" name="Group 9"/>
          <p:cNvGrpSpPr/>
          <p:nvPr/>
        </p:nvGrpSpPr>
        <p:grpSpPr>
          <a:xfrm>
            <a:off x="992238" y="5212556"/>
            <a:ext cx="4767262" cy="442912"/>
            <a:chOff x="0" y="0"/>
            <a:chExt cx="6356350" cy="590550"/>
          </a:xfrm>
        </p:grpSpPr>
        <p:sp>
          <p:nvSpPr>
            <p:cNvPr id="10" name="Freeform 10"/>
            <p:cNvSpPr/>
            <p:nvPr/>
          </p:nvSpPr>
          <p:spPr>
            <a:xfrm>
              <a:off x="0" y="0"/>
              <a:ext cx="6356350" cy="590550"/>
            </a:xfrm>
            <a:custGeom>
              <a:avLst/>
              <a:gdLst/>
              <a:ahLst/>
              <a:cxnLst/>
              <a:rect l="l" t="t" r="r" b="b"/>
              <a:pathLst>
                <a:path w="6356350" h="590550">
                  <a:moveTo>
                    <a:pt x="0" y="0"/>
                  </a:moveTo>
                  <a:lnTo>
                    <a:pt x="6356350" y="0"/>
                  </a:lnTo>
                  <a:lnTo>
                    <a:pt x="6356350" y="590550"/>
                  </a:lnTo>
                  <a:lnTo>
                    <a:pt x="0" y="590550"/>
                  </a:lnTo>
                  <a:close/>
                </a:path>
              </a:pathLst>
            </a:custGeom>
            <a:solidFill>
              <a:srgbClr val="000000">
                <a:alpha val="0"/>
              </a:srgbClr>
            </a:solidFill>
          </p:spPr>
        </p:sp>
        <p:sp>
          <p:nvSpPr>
            <p:cNvPr id="11" name="TextBox 11"/>
            <p:cNvSpPr txBox="1"/>
            <p:nvPr/>
          </p:nvSpPr>
          <p:spPr>
            <a:xfrm>
              <a:off x="0" y="-19050"/>
              <a:ext cx="6356350" cy="609600"/>
            </a:xfrm>
            <a:prstGeom prst="rect">
              <a:avLst/>
            </a:prstGeom>
          </p:spPr>
          <p:txBody>
            <a:bodyPr lIns="0" tIns="0" rIns="0" bIns="0" rtlCol="0" anchor="t"/>
            <a:lstStyle/>
            <a:p>
              <a:pPr algn="l">
                <a:lnSpc>
                  <a:spcPts val="3437"/>
                </a:lnSpc>
              </a:pPr>
              <a:r>
                <a:rPr lang="en-US" sz="2750" b="1">
                  <a:solidFill>
                    <a:srgbClr val="282824"/>
                  </a:solidFill>
                  <a:latin typeface="Lato Bold"/>
                  <a:ea typeface="Lato Bold"/>
                  <a:cs typeface="Lato Bold"/>
                  <a:sym typeface="Lato Bold"/>
                </a:rPr>
                <a:t>Centralized Admin Dashboard</a:t>
              </a:r>
            </a:p>
          </p:txBody>
        </p:sp>
      </p:grpSp>
      <p:grpSp>
        <p:nvGrpSpPr>
          <p:cNvPr id="12" name="Group 12"/>
          <p:cNvGrpSpPr/>
          <p:nvPr/>
        </p:nvGrpSpPr>
        <p:grpSpPr>
          <a:xfrm>
            <a:off x="992238" y="5938986"/>
            <a:ext cx="4972645" cy="1360885"/>
            <a:chOff x="0" y="0"/>
            <a:chExt cx="6630193" cy="1814513"/>
          </a:xfrm>
        </p:grpSpPr>
        <p:sp>
          <p:nvSpPr>
            <p:cNvPr id="13" name="Freeform 13"/>
            <p:cNvSpPr/>
            <p:nvPr/>
          </p:nvSpPr>
          <p:spPr>
            <a:xfrm>
              <a:off x="0" y="0"/>
              <a:ext cx="6630193" cy="1814513"/>
            </a:xfrm>
            <a:custGeom>
              <a:avLst/>
              <a:gdLst/>
              <a:ahLst/>
              <a:cxnLst/>
              <a:rect l="l" t="t" r="r" b="b"/>
              <a:pathLst>
                <a:path w="6630193" h="1814513">
                  <a:moveTo>
                    <a:pt x="0" y="0"/>
                  </a:moveTo>
                  <a:lnTo>
                    <a:pt x="6630193" y="0"/>
                  </a:lnTo>
                  <a:lnTo>
                    <a:pt x="6630193" y="1814513"/>
                  </a:lnTo>
                  <a:lnTo>
                    <a:pt x="0" y="1814513"/>
                  </a:lnTo>
                  <a:close/>
                </a:path>
              </a:pathLst>
            </a:custGeom>
            <a:solidFill>
              <a:srgbClr val="000000">
                <a:alpha val="0"/>
              </a:srgbClr>
            </a:solidFill>
          </p:spPr>
        </p:sp>
        <p:sp>
          <p:nvSpPr>
            <p:cNvPr id="14" name="TextBox 14"/>
            <p:cNvSpPr txBox="1"/>
            <p:nvPr/>
          </p:nvSpPr>
          <p:spPr>
            <a:xfrm>
              <a:off x="0" y="-95250"/>
              <a:ext cx="6630193" cy="1909763"/>
            </a:xfrm>
            <a:prstGeom prst="rect">
              <a:avLst/>
            </a:prstGeom>
          </p:spPr>
          <p:txBody>
            <a:bodyPr lIns="0" tIns="0" rIns="0" bIns="0" rtlCol="0" anchor="t"/>
            <a:lstStyle/>
            <a:p>
              <a:pPr algn="l">
                <a:lnSpc>
                  <a:spcPts val="3562"/>
                </a:lnSpc>
              </a:pPr>
              <a:r>
                <a:rPr lang="en-US" sz="2187">
                  <a:solidFill>
                    <a:srgbClr val="4A4A45"/>
                  </a:solidFill>
                  <a:latin typeface="Lato"/>
                  <a:ea typeface="Lato"/>
                  <a:cs typeface="Lato"/>
                  <a:sym typeface="Lato"/>
                </a:rPr>
                <a:t>A unified interface allows admins to efficiently manage projects, blogs, testimonials, and images without code.</a:t>
              </a:r>
            </a:p>
          </p:txBody>
        </p:sp>
      </p:grpSp>
      <p:grpSp>
        <p:nvGrpSpPr>
          <p:cNvPr id="15" name="Group 15"/>
          <p:cNvGrpSpPr/>
          <p:nvPr/>
        </p:nvGrpSpPr>
        <p:grpSpPr>
          <a:xfrm>
            <a:off x="6666160" y="5212556"/>
            <a:ext cx="4360961" cy="442912"/>
            <a:chOff x="0" y="0"/>
            <a:chExt cx="5814615" cy="590550"/>
          </a:xfrm>
        </p:grpSpPr>
        <p:sp>
          <p:nvSpPr>
            <p:cNvPr id="16" name="Freeform 16"/>
            <p:cNvSpPr/>
            <p:nvPr/>
          </p:nvSpPr>
          <p:spPr>
            <a:xfrm>
              <a:off x="0" y="0"/>
              <a:ext cx="5814615" cy="590550"/>
            </a:xfrm>
            <a:custGeom>
              <a:avLst/>
              <a:gdLst/>
              <a:ahLst/>
              <a:cxnLst/>
              <a:rect l="l" t="t" r="r" b="b"/>
              <a:pathLst>
                <a:path w="5814615" h="590550">
                  <a:moveTo>
                    <a:pt x="0" y="0"/>
                  </a:moveTo>
                  <a:lnTo>
                    <a:pt x="5814615" y="0"/>
                  </a:lnTo>
                  <a:lnTo>
                    <a:pt x="5814615" y="590550"/>
                  </a:lnTo>
                  <a:lnTo>
                    <a:pt x="0" y="590550"/>
                  </a:lnTo>
                  <a:close/>
                </a:path>
              </a:pathLst>
            </a:custGeom>
            <a:solidFill>
              <a:srgbClr val="000000">
                <a:alpha val="0"/>
              </a:srgbClr>
            </a:solidFill>
          </p:spPr>
        </p:sp>
        <p:sp>
          <p:nvSpPr>
            <p:cNvPr id="17" name="TextBox 17"/>
            <p:cNvSpPr txBox="1"/>
            <p:nvPr/>
          </p:nvSpPr>
          <p:spPr>
            <a:xfrm>
              <a:off x="0" y="-19050"/>
              <a:ext cx="5814615" cy="609600"/>
            </a:xfrm>
            <a:prstGeom prst="rect">
              <a:avLst/>
            </a:prstGeom>
          </p:spPr>
          <p:txBody>
            <a:bodyPr lIns="0" tIns="0" rIns="0" bIns="0" rtlCol="0" anchor="t"/>
            <a:lstStyle/>
            <a:p>
              <a:pPr algn="l">
                <a:lnSpc>
                  <a:spcPts val="3437"/>
                </a:lnSpc>
              </a:pPr>
              <a:r>
                <a:rPr lang="en-US" sz="2750" b="1">
                  <a:solidFill>
                    <a:srgbClr val="282824"/>
                  </a:solidFill>
                  <a:latin typeface="Lato Bold"/>
                  <a:ea typeface="Lato Bold"/>
                  <a:cs typeface="Lato Bold"/>
                  <a:sym typeface="Lato Bold"/>
                </a:rPr>
                <a:t>Real-Time Content Updates</a:t>
              </a:r>
            </a:p>
          </p:txBody>
        </p:sp>
      </p:grpSp>
      <p:grpSp>
        <p:nvGrpSpPr>
          <p:cNvPr id="18" name="Group 18"/>
          <p:cNvGrpSpPr/>
          <p:nvPr/>
        </p:nvGrpSpPr>
        <p:grpSpPr>
          <a:xfrm>
            <a:off x="6666160" y="5938986"/>
            <a:ext cx="4972645" cy="1360885"/>
            <a:chOff x="0" y="0"/>
            <a:chExt cx="6630193" cy="1814513"/>
          </a:xfrm>
        </p:grpSpPr>
        <p:sp>
          <p:nvSpPr>
            <p:cNvPr id="19" name="Freeform 19"/>
            <p:cNvSpPr/>
            <p:nvPr/>
          </p:nvSpPr>
          <p:spPr>
            <a:xfrm>
              <a:off x="0" y="0"/>
              <a:ext cx="6630193" cy="1814513"/>
            </a:xfrm>
            <a:custGeom>
              <a:avLst/>
              <a:gdLst/>
              <a:ahLst/>
              <a:cxnLst/>
              <a:rect l="l" t="t" r="r" b="b"/>
              <a:pathLst>
                <a:path w="6630193" h="1814513">
                  <a:moveTo>
                    <a:pt x="0" y="0"/>
                  </a:moveTo>
                  <a:lnTo>
                    <a:pt x="6630193" y="0"/>
                  </a:lnTo>
                  <a:lnTo>
                    <a:pt x="6630193" y="1814513"/>
                  </a:lnTo>
                  <a:lnTo>
                    <a:pt x="0" y="1814513"/>
                  </a:lnTo>
                  <a:close/>
                </a:path>
              </a:pathLst>
            </a:custGeom>
            <a:solidFill>
              <a:srgbClr val="000000">
                <a:alpha val="0"/>
              </a:srgbClr>
            </a:solidFill>
          </p:spPr>
        </p:sp>
        <p:sp>
          <p:nvSpPr>
            <p:cNvPr id="20" name="TextBox 20"/>
            <p:cNvSpPr txBox="1"/>
            <p:nvPr/>
          </p:nvSpPr>
          <p:spPr>
            <a:xfrm>
              <a:off x="0" y="-95250"/>
              <a:ext cx="6630193" cy="1909763"/>
            </a:xfrm>
            <a:prstGeom prst="rect">
              <a:avLst/>
            </a:prstGeom>
          </p:spPr>
          <p:txBody>
            <a:bodyPr lIns="0" tIns="0" rIns="0" bIns="0" rtlCol="0" anchor="t"/>
            <a:lstStyle/>
            <a:p>
              <a:pPr algn="l">
                <a:lnSpc>
                  <a:spcPts val="3562"/>
                </a:lnSpc>
              </a:pPr>
              <a:r>
                <a:rPr lang="en-US" sz="2187">
                  <a:solidFill>
                    <a:srgbClr val="4A4A45"/>
                  </a:solidFill>
                  <a:latin typeface="Lato"/>
                  <a:ea typeface="Lato"/>
                  <a:cs typeface="Lato"/>
                  <a:sym typeface="Lato"/>
                </a:rPr>
                <a:t>Dynamic content delivery ensures the website reflects the latest project status, client feedback, and news.</a:t>
              </a:r>
            </a:p>
          </p:txBody>
        </p:sp>
      </p:grpSp>
      <p:grpSp>
        <p:nvGrpSpPr>
          <p:cNvPr id="21" name="Group 21"/>
          <p:cNvGrpSpPr/>
          <p:nvPr/>
        </p:nvGrpSpPr>
        <p:grpSpPr>
          <a:xfrm>
            <a:off x="12340084" y="5212556"/>
            <a:ext cx="4428381" cy="442912"/>
            <a:chOff x="0" y="0"/>
            <a:chExt cx="5904508" cy="590550"/>
          </a:xfrm>
        </p:grpSpPr>
        <p:sp>
          <p:nvSpPr>
            <p:cNvPr id="22" name="Freeform 22"/>
            <p:cNvSpPr/>
            <p:nvPr/>
          </p:nvSpPr>
          <p:spPr>
            <a:xfrm>
              <a:off x="0" y="0"/>
              <a:ext cx="5904508" cy="590550"/>
            </a:xfrm>
            <a:custGeom>
              <a:avLst/>
              <a:gdLst/>
              <a:ahLst/>
              <a:cxnLst/>
              <a:rect l="l" t="t" r="r" b="b"/>
              <a:pathLst>
                <a:path w="5904508" h="590550">
                  <a:moveTo>
                    <a:pt x="0" y="0"/>
                  </a:moveTo>
                  <a:lnTo>
                    <a:pt x="5904508" y="0"/>
                  </a:lnTo>
                  <a:lnTo>
                    <a:pt x="5904508" y="590550"/>
                  </a:lnTo>
                  <a:lnTo>
                    <a:pt x="0" y="590550"/>
                  </a:lnTo>
                  <a:close/>
                </a:path>
              </a:pathLst>
            </a:custGeom>
            <a:solidFill>
              <a:srgbClr val="000000">
                <a:alpha val="0"/>
              </a:srgbClr>
            </a:solidFill>
          </p:spPr>
        </p:sp>
        <p:sp>
          <p:nvSpPr>
            <p:cNvPr id="23" name="TextBox 23"/>
            <p:cNvSpPr txBox="1"/>
            <p:nvPr/>
          </p:nvSpPr>
          <p:spPr>
            <a:xfrm>
              <a:off x="0" y="-19050"/>
              <a:ext cx="5904508" cy="609600"/>
            </a:xfrm>
            <a:prstGeom prst="rect">
              <a:avLst/>
            </a:prstGeom>
          </p:spPr>
          <p:txBody>
            <a:bodyPr lIns="0" tIns="0" rIns="0" bIns="0" rtlCol="0" anchor="t"/>
            <a:lstStyle/>
            <a:p>
              <a:pPr algn="l">
                <a:lnSpc>
                  <a:spcPts val="3437"/>
                </a:lnSpc>
              </a:pPr>
              <a:r>
                <a:rPr lang="en-US" sz="2750" b="1">
                  <a:solidFill>
                    <a:srgbClr val="282824"/>
                  </a:solidFill>
                  <a:latin typeface="Lato Bold"/>
                  <a:ea typeface="Lato Bold"/>
                  <a:cs typeface="Lato Bold"/>
                  <a:sym typeface="Lato Bold"/>
                </a:rPr>
                <a:t>Engaging Visitor Experience</a:t>
              </a:r>
            </a:p>
          </p:txBody>
        </p:sp>
      </p:grpSp>
      <p:grpSp>
        <p:nvGrpSpPr>
          <p:cNvPr id="24" name="Group 24"/>
          <p:cNvGrpSpPr/>
          <p:nvPr/>
        </p:nvGrpSpPr>
        <p:grpSpPr>
          <a:xfrm>
            <a:off x="12340084" y="5938986"/>
            <a:ext cx="4972645" cy="1360885"/>
            <a:chOff x="0" y="0"/>
            <a:chExt cx="6630193" cy="1814513"/>
          </a:xfrm>
        </p:grpSpPr>
        <p:sp>
          <p:nvSpPr>
            <p:cNvPr id="25" name="Freeform 25"/>
            <p:cNvSpPr/>
            <p:nvPr/>
          </p:nvSpPr>
          <p:spPr>
            <a:xfrm>
              <a:off x="0" y="0"/>
              <a:ext cx="6630193" cy="1814513"/>
            </a:xfrm>
            <a:custGeom>
              <a:avLst/>
              <a:gdLst/>
              <a:ahLst/>
              <a:cxnLst/>
              <a:rect l="l" t="t" r="r" b="b"/>
              <a:pathLst>
                <a:path w="6630193" h="1814513">
                  <a:moveTo>
                    <a:pt x="0" y="0"/>
                  </a:moveTo>
                  <a:lnTo>
                    <a:pt x="6630193" y="0"/>
                  </a:lnTo>
                  <a:lnTo>
                    <a:pt x="6630193" y="1814513"/>
                  </a:lnTo>
                  <a:lnTo>
                    <a:pt x="0" y="1814513"/>
                  </a:lnTo>
                  <a:close/>
                </a:path>
              </a:pathLst>
            </a:custGeom>
            <a:solidFill>
              <a:srgbClr val="000000">
                <a:alpha val="0"/>
              </a:srgbClr>
            </a:solidFill>
          </p:spPr>
        </p:sp>
        <p:sp>
          <p:nvSpPr>
            <p:cNvPr id="26" name="TextBox 26"/>
            <p:cNvSpPr txBox="1"/>
            <p:nvPr/>
          </p:nvSpPr>
          <p:spPr>
            <a:xfrm>
              <a:off x="0" y="-95250"/>
              <a:ext cx="6630193" cy="1909763"/>
            </a:xfrm>
            <a:prstGeom prst="rect">
              <a:avLst/>
            </a:prstGeom>
          </p:spPr>
          <p:txBody>
            <a:bodyPr lIns="0" tIns="0" rIns="0" bIns="0" rtlCol="0" anchor="t"/>
            <a:lstStyle/>
            <a:p>
              <a:pPr algn="l">
                <a:lnSpc>
                  <a:spcPts val="3562"/>
                </a:lnSpc>
              </a:pPr>
              <a:r>
                <a:rPr lang="en-US" sz="2187">
                  <a:solidFill>
                    <a:srgbClr val="4A4A45"/>
                  </a:solidFill>
                  <a:latin typeface="Lato"/>
                  <a:ea typeface="Lato"/>
                  <a:cs typeface="Lato"/>
                  <a:sym typeface="Lato"/>
                </a:rPr>
                <a:t>The frontend emphasizes aesthetics and usability, keeping visitors informed and impressed throughout their journey.</a:t>
              </a:r>
            </a:p>
          </p:txBody>
        </p:sp>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DDD6CC"/>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FECE6"/>
            </a:solidFill>
          </p:spPr>
        </p:sp>
      </p:grpSp>
      <p:sp>
        <p:nvSpPr>
          <p:cNvPr id="6" name="Freeform 6" descr="preencoded.png">
            <a:hlinkClick r:id="rId3" tooltip="https://gamma.app/?utm_source=made-with-gamma"/>
          </p:cNvPr>
          <p:cNvSpPr/>
          <p:nvPr/>
        </p:nvSpPr>
        <p:spPr>
          <a:xfrm>
            <a:off x="16049019" y="9686925"/>
            <a:ext cx="2153256" cy="514350"/>
          </a:xfrm>
          <a:custGeom>
            <a:avLst/>
            <a:gdLst/>
            <a:ahLst/>
            <a:cxnLst/>
            <a:rect l="l" t="t" r="r" b="b"/>
            <a:pathLst>
              <a:path w="2153256" h="514350">
                <a:moveTo>
                  <a:pt x="0" y="0"/>
                </a:moveTo>
                <a:lnTo>
                  <a:pt x="2153256" y="0"/>
                </a:lnTo>
                <a:lnTo>
                  <a:pt x="2153256" y="514350"/>
                </a:lnTo>
                <a:lnTo>
                  <a:pt x="0" y="514350"/>
                </a:lnTo>
                <a:lnTo>
                  <a:pt x="0" y="0"/>
                </a:lnTo>
                <a:close/>
              </a:path>
            </a:pathLst>
          </a:custGeom>
          <a:blipFill>
            <a:blip r:embed="rId4"/>
            <a:stretch>
              <a:fillRect/>
            </a:stretch>
          </a:blipFill>
        </p:spPr>
      </p:sp>
      <p:sp>
        <p:nvSpPr>
          <p:cNvPr id="7" name="Freeform 7" descr="preencoded.png"/>
          <p:cNvSpPr/>
          <p:nvPr/>
        </p:nvSpPr>
        <p:spPr>
          <a:xfrm>
            <a:off x="11430000" y="0"/>
            <a:ext cx="6858000" cy="10287000"/>
          </a:xfrm>
          <a:custGeom>
            <a:avLst/>
            <a:gdLst/>
            <a:ahLst/>
            <a:cxnLst/>
            <a:rect l="l" t="t" r="r" b="b"/>
            <a:pathLst>
              <a:path w="6858000" h="10287000">
                <a:moveTo>
                  <a:pt x="0" y="0"/>
                </a:moveTo>
                <a:lnTo>
                  <a:pt x="6858000" y="0"/>
                </a:lnTo>
                <a:lnTo>
                  <a:pt x="6858000" y="10287000"/>
                </a:lnTo>
                <a:lnTo>
                  <a:pt x="0" y="10287000"/>
                </a:lnTo>
                <a:lnTo>
                  <a:pt x="0" y="0"/>
                </a:lnTo>
                <a:close/>
              </a:path>
            </a:pathLst>
          </a:custGeom>
          <a:blipFill>
            <a:blip r:embed="rId5"/>
            <a:stretch>
              <a:fillRect/>
            </a:stretch>
          </a:blipFill>
        </p:spPr>
      </p:sp>
      <p:grpSp>
        <p:nvGrpSpPr>
          <p:cNvPr id="8" name="Group 8"/>
          <p:cNvGrpSpPr/>
          <p:nvPr/>
        </p:nvGrpSpPr>
        <p:grpSpPr>
          <a:xfrm>
            <a:off x="822424" y="796230"/>
            <a:ext cx="9785151" cy="1468934"/>
            <a:chOff x="0" y="0"/>
            <a:chExt cx="13046868" cy="1958578"/>
          </a:xfrm>
        </p:grpSpPr>
        <p:sp>
          <p:nvSpPr>
            <p:cNvPr id="9" name="Freeform 9"/>
            <p:cNvSpPr/>
            <p:nvPr/>
          </p:nvSpPr>
          <p:spPr>
            <a:xfrm>
              <a:off x="0" y="0"/>
              <a:ext cx="13046869" cy="1958578"/>
            </a:xfrm>
            <a:custGeom>
              <a:avLst/>
              <a:gdLst/>
              <a:ahLst/>
              <a:cxnLst/>
              <a:rect l="l" t="t" r="r" b="b"/>
              <a:pathLst>
                <a:path w="13046869" h="1958578">
                  <a:moveTo>
                    <a:pt x="0" y="0"/>
                  </a:moveTo>
                  <a:lnTo>
                    <a:pt x="13046869" y="0"/>
                  </a:lnTo>
                  <a:lnTo>
                    <a:pt x="13046869" y="1958578"/>
                  </a:lnTo>
                  <a:lnTo>
                    <a:pt x="0" y="1958578"/>
                  </a:lnTo>
                  <a:close/>
                </a:path>
              </a:pathLst>
            </a:custGeom>
            <a:solidFill>
              <a:srgbClr val="000000">
                <a:alpha val="0"/>
              </a:srgbClr>
            </a:solidFill>
          </p:spPr>
        </p:sp>
        <p:sp>
          <p:nvSpPr>
            <p:cNvPr id="10" name="TextBox 10"/>
            <p:cNvSpPr txBox="1"/>
            <p:nvPr/>
          </p:nvSpPr>
          <p:spPr>
            <a:xfrm>
              <a:off x="0" y="-28575"/>
              <a:ext cx="13046868" cy="1987153"/>
            </a:xfrm>
            <a:prstGeom prst="rect">
              <a:avLst/>
            </a:prstGeom>
          </p:spPr>
          <p:txBody>
            <a:bodyPr lIns="0" tIns="0" rIns="0" bIns="0" rtlCol="0" anchor="t"/>
            <a:lstStyle/>
            <a:p>
              <a:pPr algn="l">
                <a:lnSpc>
                  <a:spcPts val="5750"/>
                </a:lnSpc>
              </a:pPr>
              <a:r>
                <a:rPr lang="en-US" sz="4625" b="1">
                  <a:solidFill>
                    <a:srgbClr val="282824"/>
                  </a:solidFill>
                  <a:latin typeface="Lato Bold"/>
                  <a:ea typeface="Lato Bold"/>
                  <a:cs typeface="Lato Bold"/>
                  <a:sym typeface="Lato Bold"/>
                </a:rPr>
                <a:t>Key Features: Project Management Dashboard for Admins</a:t>
              </a:r>
            </a:p>
          </p:txBody>
        </p:sp>
      </p:grpSp>
      <p:grpSp>
        <p:nvGrpSpPr>
          <p:cNvPr id="11" name="Group 11"/>
          <p:cNvGrpSpPr/>
          <p:nvPr/>
        </p:nvGrpSpPr>
        <p:grpSpPr>
          <a:xfrm>
            <a:off x="822424" y="2617589"/>
            <a:ext cx="9785151" cy="1354039"/>
            <a:chOff x="0" y="0"/>
            <a:chExt cx="13046868" cy="1805385"/>
          </a:xfrm>
        </p:grpSpPr>
        <p:sp>
          <p:nvSpPr>
            <p:cNvPr id="12" name="Freeform 12"/>
            <p:cNvSpPr/>
            <p:nvPr/>
          </p:nvSpPr>
          <p:spPr>
            <a:xfrm>
              <a:off x="0" y="0"/>
              <a:ext cx="13046836" cy="1805432"/>
            </a:xfrm>
            <a:custGeom>
              <a:avLst/>
              <a:gdLst/>
              <a:ahLst/>
              <a:cxnLst/>
              <a:rect l="l" t="t" r="r" b="b"/>
              <a:pathLst>
                <a:path w="13046836" h="1805432">
                  <a:moveTo>
                    <a:pt x="0" y="46990"/>
                  </a:moveTo>
                  <a:cubicBezTo>
                    <a:pt x="0" y="21082"/>
                    <a:pt x="21082" y="0"/>
                    <a:pt x="46990" y="0"/>
                  </a:cubicBezTo>
                  <a:lnTo>
                    <a:pt x="12999847" y="0"/>
                  </a:lnTo>
                  <a:cubicBezTo>
                    <a:pt x="13025755" y="0"/>
                    <a:pt x="13046836" y="21082"/>
                    <a:pt x="13046836" y="46990"/>
                  </a:cubicBezTo>
                  <a:lnTo>
                    <a:pt x="13046836" y="1758442"/>
                  </a:lnTo>
                  <a:cubicBezTo>
                    <a:pt x="13046836" y="1784350"/>
                    <a:pt x="13025755" y="1805432"/>
                    <a:pt x="12999847" y="1805432"/>
                  </a:cubicBezTo>
                  <a:lnTo>
                    <a:pt x="46990" y="1805432"/>
                  </a:lnTo>
                  <a:cubicBezTo>
                    <a:pt x="21082" y="1805432"/>
                    <a:pt x="0" y="1784350"/>
                    <a:pt x="0" y="1758442"/>
                  </a:cubicBezTo>
                  <a:close/>
                </a:path>
              </a:pathLst>
            </a:custGeom>
            <a:solidFill>
              <a:srgbClr val="E5DFD2"/>
            </a:solidFill>
          </p:spPr>
        </p:sp>
      </p:grpSp>
      <p:grpSp>
        <p:nvGrpSpPr>
          <p:cNvPr id="13" name="Group 13"/>
          <p:cNvGrpSpPr/>
          <p:nvPr/>
        </p:nvGrpSpPr>
        <p:grpSpPr>
          <a:xfrm>
            <a:off x="1057424" y="2852589"/>
            <a:ext cx="2937570" cy="367159"/>
            <a:chOff x="0" y="0"/>
            <a:chExt cx="3916760" cy="489545"/>
          </a:xfrm>
        </p:grpSpPr>
        <p:sp>
          <p:nvSpPr>
            <p:cNvPr id="14" name="Freeform 14"/>
            <p:cNvSpPr/>
            <p:nvPr/>
          </p:nvSpPr>
          <p:spPr>
            <a:xfrm>
              <a:off x="0" y="0"/>
              <a:ext cx="3916760" cy="489545"/>
            </a:xfrm>
            <a:custGeom>
              <a:avLst/>
              <a:gdLst/>
              <a:ahLst/>
              <a:cxnLst/>
              <a:rect l="l" t="t" r="r" b="b"/>
              <a:pathLst>
                <a:path w="3916760" h="489545">
                  <a:moveTo>
                    <a:pt x="0" y="0"/>
                  </a:moveTo>
                  <a:lnTo>
                    <a:pt x="3916760" y="0"/>
                  </a:lnTo>
                  <a:lnTo>
                    <a:pt x="3916760" y="489545"/>
                  </a:lnTo>
                  <a:lnTo>
                    <a:pt x="0" y="489545"/>
                  </a:lnTo>
                  <a:close/>
                </a:path>
              </a:pathLst>
            </a:custGeom>
            <a:solidFill>
              <a:srgbClr val="000000">
                <a:alpha val="0"/>
              </a:srgbClr>
            </a:solidFill>
          </p:spPr>
        </p:sp>
        <p:sp>
          <p:nvSpPr>
            <p:cNvPr id="15" name="TextBox 15"/>
            <p:cNvSpPr txBox="1"/>
            <p:nvPr/>
          </p:nvSpPr>
          <p:spPr>
            <a:xfrm>
              <a:off x="0" y="-19050"/>
              <a:ext cx="3916760" cy="508595"/>
            </a:xfrm>
            <a:prstGeom prst="rect">
              <a:avLst/>
            </a:prstGeom>
          </p:spPr>
          <p:txBody>
            <a:bodyPr lIns="0" tIns="0" rIns="0" bIns="0" rtlCol="0" anchor="t"/>
            <a:lstStyle/>
            <a:p>
              <a:pPr algn="l">
                <a:lnSpc>
                  <a:spcPts val="2875"/>
                </a:lnSpc>
              </a:pPr>
              <a:r>
                <a:rPr lang="en-US" sz="2312" b="1">
                  <a:solidFill>
                    <a:srgbClr val="4A4A45"/>
                  </a:solidFill>
                  <a:latin typeface="Lato Bold"/>
                  <a:ea typeface="Lato Bold"/>
                  <a:cs typeface="Lato Bold"/>
                  <a:sym typeface="Lato Bold"/>
                </a:rPr>
                <a:t>Project Tracking</a:t>
              </a:r>
            </a:p>
          </p:txBody>
        </p:sp>
      </p:grpSp>
      <p:grpSp>
        <p:nvGrpSpPr>
          <p:cNvPr id="16" name="Group 16"/>
          <p:cNvGrpSpPr/>
          <p:nvPr/>
        </p:nvGrpSpPr>
        <p:grpSpPr>
          <a:xfrm>
            <a:off x="1057424" y="3360688"/>
            <a:ext cx="9315152" cy="375940"/>
            <a:chOff x="0" y="0"/>
            <a:chExt cx="12420203" cy="501253"/>
          </a:xfrm>
        </p:grpSpPr>
        <p:sp>
          <p:nvSpPr>
            <p:cNvPr id="17" name="Freeform 17"/>
            <p:cNvSpPr/>
            <p:nvPr/>
          </p:nvSpPr>
          <p:spPr>
            <a:xfrm>
              <a:off x="0" y="0"/>
              <a:ext cx="12420203" cy="501253"/>
            </a:xfrm>
            <a:custGeom>
              <a:avLst/>
              <a:gdLst/>
              <a:ahLst/>
              <a:cxnLst/>
              <a:rect l="l" t="t" r="r" b="b"/>
              <a:pathLst>
                <a:path w="12420203" h="501253">
                  <a:moveTo>
                    <a:pt x="0" y="0"/>
                  </a:moveTo>
                  <a:lnTo>
                    <a:pt x="12420203" y="0"/>
                  </a:lnTo>
                  <a:lnTo>
                    <a:pt x="12420203" y="501253"/>
                  </a:lnTo>
                  <a:lnTo>
                    <a:pt x="0" y="501253"/>
                  </a:lnTo>
                  <a:close/>
                </a:path>
              </a:pathLst>
            </a:custGeom>
            <a:solidFill>
              <a:srgbClr val="000000">
                <a:alpha val="0"/>
              </a:srgbClr>
            </a:solidFill>
          </p:spPr>
        </p:sp>
        <p:sp>
          <p:nvSpPr>
            <p:cNvPr id="18" name="TextBox 18"/>
            <p:cNvSpPr txBox="1"/>
            <p:nvPr/>
          </p:nvSpPr>
          <p:spPr>
            <a:xfrm>
              <a:off x="0" y="-85725"/>
              <a:ext cx="12420203" cy="586978"/>
            </a:xfrm>
            <a:prstGeom prst="rect">
              <a:avLst/>
            </a:prstGeom>
          </p:spPr>
          <p:txBody>
            <a:bodyPr lIns="0" tIns="0" rIns="0" bIns="0" rtlCol="0" anchor="t"/>
            <a:lstStyle/>
            <a:p>
              <a:pPr algn="l">
                <a:lnSpc>
                  <a:spcPts val="2937"/>
                </a:lnSpc>
              </a:pPr>
              <a:r>
                <a:rPr lang="en-US" sz="1812">
                  <a:solidFill>
                    <a:srgbClr val="4A4A45"/>
                  </a:solidFill>
                  <a:latin typeface="Lato"/>
                  <a:ea typeface="Lato"/>
                  <a:cs typeface="Lato"/>
                  <a:sym typeface="Lato"/>
                </a:rPr>
                <a:t>Monitor timelines, budgets, milestones, and team assignments with intuitive visual tools.</a:t>
              </a:r>
            </a:p>
          </p:txBody>
        </p:sp>
      </p:grpSp>
      <p:grpSp>
        <p:nvGrpSpPr>
          <p:cNvPr id="19" name="Group 19"/>
          <p:cNvGrpSpPr/>
          <p:nvPr/>
        </p:nvGrpSpPr>
        <p:grpSpPr>
          <a:xfrm>
            <a:off x="822424" y="4206627"/>
            <a:ext cx="9785151" cy="1729979"/>
            <a:chOff x="0" y="0"/>
            <a:chExt cx="13046868" cy="2306638"/>
          </a:xfrm>
        </p:grpSpPr>
        <p:sp>
          <p:nvSpPr>
            <p:cNvPr id="20" name="Freeform 20"/>
            <p:cNvSpPr/>
            <p:nvPr/>
          </p:nvSpPr>
          <p:spPr>
            <a:xfrm>
              <a:off x="0" y="0"/>
              <a:ext cx="13046836" cy="2306574"/>
            </a:xfrm>
            <a:custGeom>
              <a:avLst/>
              <a:gdLst/>
              <a:ahLst/>
              <a:cxnLst/>
              <a:rect l="l" t="t" r="r" b="b"/>
              <a:pathLst>
                <a:path w="13046836" h="2306574">
                  <a:moveTo>
                    <a:pt x="0" y="46990"/>
                  </a:moveTo>
                  <a:cubicBezTo>
                    <a:pt x="0" y="21082"/>
                    <a:pt x="21082" y="0"/>
                    <a:pt x="46990" y="0"/>
                  </a:cubicBezTo>
                  <a:lnTo>
                    <a:pt x="12999847" y="0"/>
                  </a:lnTo>
                  <a:cubicBezTo>
                    <a:pt x="13025755" y="0"/>
                    <a:pt x="13046836" y="21082"/>
                    <a:pt x="13046836" y="46990"/>
                  </a:cubicBezTo>
                  <a:lnTo>
                    <a:pt x="13046836" y="2259584"/>
                  </a:lnTo>
                  <a:cubicBezTo>
                    <a:pt x="13046836" y="2285492"/>
                    <a:pt x="13025755" y="2306574"/>
                    <a:pt x="12999847" y="2306574"/>
                  </a:cubicBezTo>
                  <a:lnTo>
                    <a:pt x="46990" y="2306574"/>
                  </a:lnTo>
                  <a:cubicBezTo>
                    <a:pt x="21082" y="2306574"/>
                    <a:pt x="0" y="2285492"/>
                    <a:pt x="0" y="2259584"/>
                  </a:cubicBezTo>
                  <a:close/>
                </a:path>
              </a:pathLst>
            </a:custGeom>
            <a:solidFill>
              <a:srgbClr val="E5DFD2"/>
            </a:solidFill>
          </p:spPr>
        </p:sp>
      </p:grpSp>
      <p:grpSp>
        <p:nvGrpSpPr>
          <p:cNvPr id="21" name="Group 21"/>
          <p:cNvGrpSpPr/>
          <p:nvPr/>
        </p:nvGrpSpPr>
        <p:grpSpPr>
          <a:xfrm>
            <a:off x="1057424" y="4441626"/>
            <a:ext cx="2937570" cy="367159"/>
            <a:chOff x="0" y="0"/>
            <a:chExt cx="3916760" cy="489545"/>
          </a:xfrm>
        </p:grpSpPr>
        <p:sp>
          <p:nvSpPr>
            <p:cNvPr id="22" name="Freeform 22"/>
            <p:cNvSpPr/>
            <p:nvPr/>
          </p:nvSpPr>
          <p:spPr>
            <a:xfrm>
              <a:off x="0" y="0"/>
              <a:ext cx="3916760" cy="489545"/>
            </a:xfrm>
            <a:custGeom>
              <a:avLst/>
              <a:gdLst/>
              <a:ahLst/>
              <a:cxnLst/>
              <a:rect l="l" t="t" r="r" b="b"/>
              <a:pathLst>
                <a:path w="3916760" h="489545">
                  <a:moveTo>
                    <a:pt x="0" y="0"/>
                  </a:moveTo>
                  <a:lnTo>
                    <a:pt x="3916760" y="0"/>
                  </a:lnTo>
                  <a:lnTo>
                    <a:pt x="3916760" y="489545"/>
                  </a:lnTo>
                  <a:lnTo>
                    <a:pt x="0" y="489545"/>
                  </a:lnTo>
                  <a:close/>
                </a:path>
              </a:pathLst>
            </a:custGeom>
            <a:solidFill>
              <a:srgbClr val="000000">
                <a:alpha val="0"/>
              </a:srgbClr>
            </a:solidFill>
          </p:spPr>
        </p:sp>
        <p:sp>
          <p:nvSpPr>
            <p:cNvPr id="23" name="TextBox 23"/>
            <p:cNvSpPr txBox="1"/>
            <p:nvPr/>
          </p:nvSpPr>
          <p:spPr>
            <a:xfrm>
              <a:off x="0" y="-19050"/>
              <a:ext cx="3916760" cy="508595"/>
            </a:xfrm>
            <a:prstGeom prst="rect">
              <a:avLst/>
            </a:prstGeom>
          </p:spPr>
          <p:txBody>
            <a:bodyPr lIns="0" tIns="0" rIns="0" bIns="0" rtlCol="0" anchor="t"/>
            <a:lstStyle/>
            <a:p>
              <a:pPr algn="l">
                <a:lnSpc>
                  <a:spcPts val="2875"/>
                </a:lnSpc>
              </a:pPr>
              <a:r>
                <a:rPr lang="en-US" sz="2312" b="1">
                  <a:solidFill>
                    <a:srgbClr val="4A4A45"/>
                  </a:solidFill>
                  <a:latin typeface="Lato Bold"/>
                  <a:ea typeface="Lato Bold"/>
                  <a:cs typeface="Lato Bold"/>
                  <a:sym typeface="Lato Bold"/>
                </a:rPr>
                <a:t>Blog Management</a:t>
              </a:r>
            </a:p>
          </p:txBody>
        </p:sp>
      </p:grpSp>
      <p:grpSp>
        <p:nvGrpSpPr>
          <p:cNvPr id="24" name="Group 24"/>
          <p:cNvGrpSpPr/>
          <p:nvPr/>
        </p:nvGrpSpPr>
        <p:grpSpPr>
          <a:xfrm>
            <a:off x="1057424" y="4949726"/>
            <a:ext cx="9315152" cy="751880"/>
            <a:chOff x="0" y="0"/>
            <a:chExt cx="12420203" cy="1002507"/>
          </a:xfrm>
        </p:grpSpPr>
        <p:sp>
          <p:nvSpPr>
            <p:cNvPr id="25" name="Freeform 25"/>
            <p:cNvSpPr/>
            <p:nvPr/>
          </p:nvSpPr>
          <p:spPr>
            <a:xfrm>
              <a:off x="0" y="0"/>
              <a:ext cx="12420203" cy="1002507"/>
            </a:xfrm>
            <a:custGeom>
              <a:avLst/>
              <a:gdLst/>
              <a:ahLst/>
              <a:cxnLst/>
              <a:rect l="l" t="t" r="r" b="b"/>
              <a:pathLst>
                <a:path w="12420203" h="1002507">
                  <a:moveTo>
                    <a:pt x="0" y="0"/>
                  </a:moveTo>
                  <a:lnTo>
                    <a:pt x="12420203" y="0"/>
                  </a:lnTo>
                  <a:lnTo>
                    <a:pt x="12420203" y="1002507"/>
                  </a:lnTo>
                  <a:lnTo>
                    <a:pt x="0" y="1002507"/>
                  </a:lnTo>
                  <a:close/>
                </a:path>
              </a:pathLst>
            </a:custGeom>
            <a:solidFill>
              <a:srgbClr val="000000">
                <a:alpha val="0"/>
              </a:srgbClr>
            </a:solidFill>
          </p:spPr>
        </p:sp>
        <p:sp>
          <p:nvSpPr>
            <p:cNvPr id="26" name="TextBox 26"/>
            <p:cNvSpPr txBox="1"/>
            <p:nvPr/>
          </p:nvSpPr>
          <p:spPr>
            <a:xfrm>
              <a:off x="0" y="-85725"/>
              <a:ext cx="12420203" cy="1088232"/>
            </a:xfrm>
            <a:prstGeom prst="rect">
              <a:avLst/>
            </a:prstGeom>
          </p:spPr>
          <p:txBody>
            <a:bodyPr lIns="0" tIns="0" rIns="0" bIns="0" rtlCol="0" anchor="t"/>
            <a:lstStyle/>
            <a:p>
              <a:pPr algn="l">
                <a:lnSpc>
                  <a:spcPts val="2937"/>
                </a:lnSpc>
              </a:pPr>
              <a:r>
                <a:rPr lang="en-US" sz="1812">
                  <a:solidFill>
                    <a:srgbClr val="4A4A45"/>
                  </a:solidFill>
                  <a:latin typeface="Lato"/>
                  <a:ea typeface="Lato"/>
                  <a:cs typeface="Lato"/>
                  <a:sym typeface="Lato"/>
                </a:rPr>
                <a:t>Quickly create, edit, and schedule construction-related articles to boost SEO and thought leadership.</a:t>
              </a:r>
            </a:p>
          </p:txBody>
        </p:sp>
      </p:grpSp>
      <p:grpSp>
        <p:nvGrpSpPr>
          <p:cNvPr id="27" name="Group 27"/>
          <p:cNvGrpSpPr/>
          <p:nvPr/>
        </p:nvGrpSpPr>
        <p:grpSpPr>
          <a:xfrm>
            <a:off x="822424" y="6171605"/>
            <a:ext cx="9785151" cy="1729979"/>
            <a:chOff x="0" y="0"/>
            <a:chExt cx="13046868" cy="2306638"/>
          </a:xfrm>
        </p:grpSpPr>
        <p:sp>
          <p:nvSpPr>
            <p:cNvPr id="28" name="Freeform 28"/>
            <p:cNvSpPr/>
            <p:nvPr/>
          </p:nvSpPr>
          <p:spPr>
            <a:xfrm>
              <a:off x="0" y="0"/>
              <a:ext cx="13046836" cy="2306574"/>
            </a:xfrm>
            <a:custGeom>
              <a:avLst/>
              <a:gdLst/>
              <a:ahLst/>
              <a:cxnLst/>
              <a:rect l="l" t="t" r="r" b="b"/>
              <a:pathLst>
                <a:path w="13046836" h="2306574">
                  <a:moveTo>
                    <a:pt x="0" y="46990"/>
                  </a:moveTo>
                  <a:cubicBezTo>
                    <a:pt x="0" y="21082"/>
                    <a:pt x="21082" y="0"/>
                    <a:pt x="46990" y="0"/>
                  </a:cubicBezTo>
                  <a:lnTo>
                    <a:pt x="12999847" y="0"/>
                  </a:lnTo>
                  <a:cubicBezTo>
                    <a:pt x="13025755" y="0"/>
                    <a:pt x="13046836" y="21082"/>
                    <a:pt x="13046836" y="46990"/>
                  </a:cubicBezTo>
                  <a:lnTo>
                    <a:pt x="13046836" y="2259584"/>
                  </a:lnTo>
                  <a:cubicBezTo>
                    <a:pt x="13046836" y="2285492"/>
                    <a:pt x="13025755" y="2306574"/>
                    <a:pt x="12999847" y="2306574"/>
                  </a:cubicBezTo>
                  <a:lnTo>
                    <a:pt x="46990" y="2306574"/>
                  </a:lnTo>
                  <a:cubicBezTo>
                    <a:pt x="21082" y="2306574"/>
                    <a:pt x="0" y="2285492"/>
                    <a:pt x="0" y="2259584"/>
                  </a:cubicBezTo>
                  <a:close/>
                </a:path>
              </a:pathLst>
            </a:custGeom>
            <a:solidFill>
              <a:srgbClr val="E5DFD2"/>
            </a:solidFill>
          </p:spPr>
        </p:sp>
      </p:grpSp>
      <p:grpSp>
        <p:nvGrpSpPr>
          <p:cNvPr id="29" name="Group 29"/>
          <p:cNvGrpSpPr/>
          <p:nvPr/>
        </p:nvGrpSpPr>
        <p:grpSpPr>
          <a:xfrm>
            <a:off x="1057424" y="6406604"/>
            <a:ext cx="2937570" cy="367159"/>
            <a:chOff x="0" y="0"/>
            <a:chExt cx="3916760" cy="489545"/>
          </a:xfrm>
        </p:grpSpPr>
        <p:sp>
          <p:nvSpPr>
            <p:cNvPr id="30" name="Freeform 30"/>
            <p:cNvSpPr/>
            <p:nvPr/>
          </p:nvSpPr>
          <p:spPr>
            <a:xfrm>
              <a:off x="0" y="0"/>
              <a:ext cx="3916760" cy="489545"/>
            </a:xfrm>
            <a:custGeom>
              <a:avLst/>
              <a:gdLst/>
              <a:ahLst/>
              <a:cxnLst/>
              <a:rect l="l" t="t" r="r" b="b"/>
              <a:pathLst>
                <a:path w="3916760" h="489545">
                  <a:moveTo>
                    <a:pt x="0" y="0"/>
                  </a:moveTo>
                  <a:lnTo>
                    <a:pt x="3916760" y="0"/>
                  </a:lnTo>
                  <a:lnTo>
                    <a:pt x="3916760" y="489545"/>
                  </a:lnTo>
                  <a:lnTo>
                    <a:pt x="0" y="489545"/>
                  </a:lnTo>
                  <a:close/>
                </a:path>
              </a:pathLst>
            </a:custGeom>
            <a:solidFill>
              <a:srgbClr val="000000">
                <a:alpha val="0"/>
              </a:srgbClr>
            </a:solidFill>
          </p:spPr>
        </p:sp>
        <p:sp>
          <p:nvSpPr>
            <p:cNvPr id="31" name="TextBox 31"/>
            <p:cNvSpPr txBox="1"/>
            <p:nvPr/>
          </p:nvSpPr>
          <p:spPr>
            <a:xfrm>
              <a:off x="0" y="-19050"/>
              <a:ext cx="3916760" cy="508595"/>
            </a:xfrm>
            <a:prstGeom prst="rect">
              <a:avLst/>
            </a:prstGeom>
          </p:spPr>
          <p:txBody>
            <a:bodyPr lIns="0" tIns="0" rIns="0" bIns="0" rtlCol="0" anchor="t"/>
            <a:lstStyle/>
            <a:p>
              <a:pPr algn="l">
                <a:lnSpc>
                  <a:spcPts val="2875"/>
                </a:lnSpc>
              </a:pPr>
              <a:r>
                <a:rPr lang="en-US" sz="2312" b="1">
                  <a:solidFill>
                    <a:srgbClr val="4A4A45"/>
                  </a:solidFill>
                  <a:latin typeface="Lato Bold"/>
                  <a:ea typeface="Lato Bold"/>
                  <a:cs typeface="Lato Bold"/>
                  <a:sym typeface="Lato Bold"/>
                </a:rPr>
                <a:t>Testimonial Reviews</a:t>
              </a:r>
            </a:p>
          </p:txBody>
        </p:sp>
      </p:grpSp>
      <p:grpSp>
        <p:nvGrpSpPr>
          <p:cNvPr id="32" name="Group 32"/>
          <p:cNvGrpSpPr/>
          <p:nvPr/>
        </p:nvGrpSpPr>
        <p:grpSpPr>
          <a:xfrm>
            <a:off x="1057424" y="6914704"/>
            <a:ext cx="9315152" cy="751880"/>
            <a:chOff x="0" y="0"/>
            <a:chExt cx="12420203" cy="1002507"/>
          </a:xfrm>
        </p:grpSpPr>
        <p:sp>
          <p:nvSpPr>
            <p:cNvPr id="33" name="Freeform 33"/>
            <p:cNvSpPr/>
            <p:nvPr/>
          </p:nvSpPr>
          <p:spPr>
            <a:xfrm>
              <a:off x="0" y="0"/>
              <a:ext cx="12420203" cy="1002507"/>
            </a:xfrm>
            <a:custGeom>
              <a:avLst/>
              <a:gdLst/>
              <a:ahLst/>
              <a:cxnLst/>
              <a:rect l="l" t="t" r="r" b="b"/>
              <a:pathLst>
                <a:path w="12420203" h="1002507">
                  <a:moveTo>
                    <a:pt x="0" y="0"/>
                  </a:moveTo>
                  <a:lnTo>
                    <a:pt x="12420203" y="0"/>
                  </a:lnTo>
                  <a:lnTo>
                    <a:pt x="12420203" y="1002507"/>
                  </a:lnTo>
                  <a:lnTo>
                    <a:pt x="0" y="1002507"/>
                  </a:lnTo>
                  <a:close/>
                </a:path>
              </a:pathLst>
            </a:custGeom>
            <a:solidFill>
              <a:srgbClr val="000000">
                <a:alpha val="0"/>
              </a:srgbClr>
            </a:solidFill>
          </p:spPr>
        </p:sp>
        <p:sp>
          <p:nvSpPr>
            <p:cNvPr id="34" name="TextBox 34"/>
            <p:cNvSpPr txBox="1"/>
            <p:nvPr/>
          </p:nvSpPr>
          <p:spPr>
            <a:xfrm>
              <a:off x="0" y="-85725"/>
              <a:ext cx="12420203" cy="1088232"/>
            </a:xfrm>
            <a:prstGeom prst="rect">
              <a:avLst/>
            </a:prstGeom>
          </p:spPr>
          <p:txBody>
            <a:bodyPr lIns="0" tIns="0" rIns="0" bIns="0" rtlCol="0" anchor="t"/>
            <a:lstStyle/>
            <a:p>
              <a:pPr algn="l">
                <a:lnSpc>
                  <a:spcPts val="2937"/>
                </a:lnSpc>
              </a:pPr>
              <a:r>
                <a:rPr lang="en-US" sz="1812">
                  <a:solidFill>
                    <a:srgbClr val="4A4A45"/>
                  </a:solidFill>
                  <a:latin typeface="Lato"/>
                  <a:ea typeface="Lato"/>
                  <a:cs typeface="Lato"/>
                  <a:sym typeface="Lato"/>
                </a:rPr>
                <a:t>Easily manage client feedback and display authentic testimonials dynamically on the website.</a:t>
              </a:r>
            </a:p>
          </p:txBody>
        </p:sp>
      </p:grpSp>
      <p:grpSp>
        <p:nvGrpSpPr>
          <p:cNvPr id="35" name="Group 35"/>
          <p:cNvGrpSpPr/>
          <p:nvPr/>
        </p:nvGrpSpPr>
        <p:grpSpPr>
          <a:xfrm>
            <a:off x="822424" y="8136582"/>
            <a:ext cx="9785151" cy="1354039"/>
            <a:chOff x="0" y="0"/>
            <a:chExt cx="13046868" cy="1805385"/>
          </a:xfrm>
        </p:grpSpPr>
        <p:sp>
          <p:nvSpPr>
            <p:cNvPr id="36" name="Freeform 36"/>
            <p:cNvSpPr/>
            <p:nvPr/>
          </p:nvSpPr>
          <p:spPr>
            <a:xfrm>
              <a:off x="0" y="0"/>
              <a:ext cx="13046836" cy="1805432"/>
            </a:xfrm>
            <a:custGeom>
              <a:avLst/>
              <a:gdLst/>
              <a:ahLst/>
              <a:cxnLst/>
              <a:rect l="l" t="t" r="r" b="b"/>
              <a:pathLst>
                <a:path w="13046836" h="1805432">
                  <a:moveTo>
                    <a:pt x="0" y="46990"/>
                  </a:moveTo>
                  <a:cubicBezTo>
                    <a:pt x="0" y="21082"/>
                    <a:pt x="21082" y="0"/>
                    <a:pt x="46990" y="0"/>
                  </a:cubicBezTo>
                  <a:lnTo>
                    <a:pt x="12999847" y="0"/>
                  </a:lnTo>
                  <a:cubicBezTo>
                    <a:pt x="13025755" y="0"/>
                    <a:pt x="13046836" y="21082"/>
                    <a:pt x="13046836" y="46990"/>
                  </a:cubicBezTo>
                  <a:lnTo>
                    <a:pt x="13046836" y="1758442"/>
                  </a:lnTo>
                  <a:cubicBezTo>
                    <a:pt x="13046836" y="1784350"/>
                    <a:pt x="13025755" y="1805432"/>
                    <a:pt x="12999847" y="1805432"/>
                  </a:cubicBezTo>
                  <a:lnTo>
                    <a:pt x="46990" y="1805432"/>
                  </a:lnTo>
                  <a:cubicBezTo>
                    <a:pt x="21082" y="1805432"/>
                    <a:pt x="0" y="1784350"/>
                    <a:pt x="0" y="1758442"/>
                  </a:cubicBezTo>
                  <a:close/>
                </a:path>
              </a:pathLst>
            </a:custGeom>
            <a:solidFill>
              <a:srgbClr val="E5DFD2"/>
            </a:solidFill>
          </p:spPr>
        </p:sp>
      </p:grpSp>
      <p:grpSp>
        <p:nvGrpSpPr>
          <p:cNvPr id="37" name="Group 37"/>
          <p:cNvGrpSpPr/>
          <p:nvPr/>
        </p:nvGrpSpPr>
        <p:grpSpPr>
          <a:xfrm>
            <a:off x="1057424" y="8371582"/>
            <a:ext cx="2937570" cy="367159"/>
            <a:chOff x="0" y="0"/>
            <a:chExt cx="3916760" cy="489545"/>
          </a:xfrm>
        </p:grpSpPr>
        <p:sp>
          <p:nvSpPr>
            <p:cNvPr id="38" name="Freeform 38"/>
            <p:cNvSpPr/>
            <p:nvPr/>
          </p:nvSpPr>
          <p:spPr>
            <a:xfrm>
              <a:off x="0" y="0"/>
              <a:ext cx="3916760" cy="489545"/>
            </a:xfrm>
            <a:custGeom>
              <a:avLst/>
              <a:gdLst/>
              <a:ahLst/>
              <a:cxnLst/>
              <a:rect l="l" t="t" r="r" b="b"/>
              <a:pathLst>
                <a:path w="3916760" h="489545">
                  <a:moveTo>
                    <a:pt x="0" y="0"/>
                  </a:moveTo>
                  <a:lnTo>
                    <a:pt x="3916760" y="0"/>
                  </a:lnTo>
                  <a:lnTo>
                    <a:pt x="3916760" y="489545"/>
                  </a:lnTo>
                  <a:lnTo>
                    <a:pt x="0" y="489545"/>
                  </a:lnTo>
                  <a:close/>
                </a:path>
              </a:pathLst>
            </a:custGeom>
            <a:solidFill>
              <a:srgbClr val="000000">
                <a:alpha val="0"/>
              </a:srgbClr>
            </a:solidFill>
          </p:spPr>
        </p:sp>
        <p:sp>
          <p:nvSpPr>
            <p:cNvPr id="39" name="TextBox 39"/>
            <p:cNvSpPr txBox="1"/>
            <p:nvPr/>
          </p:nvSpPr>
          <p:spPr>
            <a:xfrm>
              <a:off x="0" y="-19050"/>
              <a:ext cx="3916760" cy="508595"/>
            </a:xfrm>
            <a:prstGeom prst="rect">
              <a:avLst/>
            </a:prstGeom>
          </p:spPr>
          <p:txBody>
            <a:bodyPr lIns="0" tIns="0" rIns="0" bIns="0" rtlCol="0" anchor="t"/>
            <a:lstStyle/>
            <a:p>
              <a:pPr algn="l">
                <a:lnSpc>
                  <a:spcPts val="2875"/>
                </a:lnSpc>
              </a:pPr>
              <a:r>
                <a:rPr lang="en-US" sz="2312" b="1">
                  <a:solidFill>
                    <a:srgbClr val="4A4A45"/>
                  </a:solidFill>
                  <a:latin typeface="Lato Bold"/>
                  <a:ea typeface="Lato Bold"/>
                  <a:cs typeface="Lato Bold"/>
                  <a:sym typeface="Lato Bold"/>
                </a:rPr>
                <a:t>Image Library</a:t>
              </a:r>
            </a:p>
          </p:txBody>
        </p:sp>
      </p:grpSp>
      <p:grpSp>
        <p:nvGrpSpPr>
          <p:cNvPr id="40" name="Group 40"/>
          <p:cNvGrpSpPr/>
          <p:nvPr/>
        </p:nvGrpSpPr>
        <p:grpSpPr>
          <a:xfrm>
            <a:off x="1057424" y="8879681"/>
            <a:ext cx="9315152" cy="375940"/>
            <a:chOff x="0" y="0"/>
            <a:chExt cx="12420203" cy="501253"/>
          </a:xfrm>
        </p:grpSpPr>
        <p:sp>
          <p:nvSpPr>
            <p:cNvPr id="41" name="Freeform 41"/>
            <p:cNvSpPr/>
            <p:nvPr/>
          </p:nvSpPr>
          <p:spPr>
            <a:xfrm>
              <a:off x="0" y="0"/>
              <a:ext cx="12420203" cy="501253"/>
            </a:xfrm>
            <a:custGeom>
              <a:avLst/>
              <a:gdLst/>
              <a:ahLst/>
              <a:cxnLst/>
              <a:rect l="l" t="t" r="r" b="b"/>
              <a:pathLst>
                <a:path w="12420203" h="501253">
                  <a:moveTo>
                    <a:pt x="0" y="0"/>
                  </a:moveTo>
                  <a:lnTo>
                    <a:pt x="12420203" y="0"/>
                  </a:lnTo>
                  <a:lnTo>
                    <a:pt x="12420203" y="501253"/>
                  </a:lnTo>
                  <a:lnTo>
                    <a:pt x="0" y="501253"/>
                  </a:lnTo>
                  <a:close/>
                </a:path>
              </a:pathLst>
            </a:custGeom>
            <a:solidFill>
              <a:srgbClr val="000000">
                <a:alpha val="0"/>
              </a:srgbClr>
            </a:solidFill>
          </p:spPr>
        </p:sp>
        <p:sp>
          <p:nvSpPr>
            <p:cNvPr id="42" name="TextBox 42"/>
            <p:cNvSpPr txBox="1"/>
            <p:nvPr/>
          </p:nvSpPr>
          <p:spPr>
            <a:xfrm>
              <a:off x="0" y="-85725"/>
              <a:ext cx="12420203" cy="586978"/>
            </a:xfrm>
            <a:prstGeom prst="rect">
              <a:avLst/>
            </a:prstGeom>
          </p:spPr>
          <p:txBody>
            <a:bodyPr lIns="0" tIns="0" rIns="0" bIns="0" rtlCol="0" anchor="t"/>
            <a:lstStyle/>
            <a:p>
              <a:pPr algn="l">
                <a:lnSpc>
                  <a:spcPts val="2937"/>
                </a:lnSpc>
              </a:pPr>
              <a:r>
                <a:rPr lang="en-US" sz="1812">
                  <a:solidFill>
                    <a:srgbClr val="4A4A45"/>
                  </a:solidFill>
                  <a:latin typeface="Lato"/>
                  <a:ea typeface="Lato"/>
                  <a:cs typeface="Lato"/>
                  <a:sym typeface="Lato"/>
                </a:rPr>
                <a:t>Organize and update galleries showcasing projects and company highlights effortlessly.</a:t>
              </a:r>
            </a:p>
          </p:txBody>
        </p:sp>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DDD6CC"/>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FECE6"/>
            </a:solidFill>
          </p:spPr>
        </p:sp>
      </p:grpSp>
      <p:sp>
        <p:nvSpPr>
          <p:cNvPr id="6" name="Freeform 6" descr="preencoded.png"/>
          <p:cNvSpPr/>
          <p:nvPr/>
        </p:nvSpPr>
        <p:spPr>
          <a:xfrm>
            <a:off x="0" y="0"/>
            <a:ext cx="6858000" cy="10287000"/>
          </a:xfrm>
          <a:custGeom>
            <a:avLst/>
            <a:gdLst/>
            <a:ahLst/>
            <a:cxnLst/>
            <a:rect l="l" t="t" r="r" b="b"/>
            <a:pathLst>
              <a:path w="6858000" h="10287000">
                <a:moveTo>
                  <a:pt x="0" y="0"/>
                </a:moveTo>
                <a:lnTo>
                  <a:pt x="6858000" y="0"/>
                </a:lnTo>
                <a:lnTo>
                  <a:pt x="6858000" y="10287000"/>
                </a:lnTo>
                <a:lnTo>
                  <a:pt x="0" y="10287000"/>
                </a:lnTo>
                <a:lnTo>
                  <a:pt x="0" y="0"/>
                </a:lnTo>
                <a:close/>
              </a:path>
            </a:pathLst>
          </a:custGeom>
          <a:blipFill>
            <a:blip r:embed="rId3"/>
            <a:stretch>
              <a:fillRect/>
            </a:stretch>
          </a:blipFill>
        </p:spPr>
      </p:sp>
      <p:grpSp>
        <p:nvGrpSpPr>
          <p:cNvPr id="7" name="Group 7"/>
          <p:cNvGrpSpPr/>
          <p:nvPr/>
        </p:nvGrpSpPr>
        <p:grpSpPr>
          <a:xfrm>
            <a:off x="7793980" y="736550"/>
            <a:ext cx="9558040" cy="2507010"/>
            <a:chOff x="0" y="0"/>
            <a:chExt cx="12744053" cy="3342680"/>
          </a:xfrm>
        </p:grpSpPr>
        <p:sp>
          <p:nvSpPr>
            <p:cNvPr id="8" name="Freeform 8"/>
            <p:cNvSpPr/>
            <p:nvPr/>
          </p:nvSpPr>
          <p:spPr>
            <a:xfrm>
              <a:off x="0" y="0"/>
              <a:ext cx="12744053" cy="3342680"/>
            </a:xfrm>
            <a:custGeom>
              <a:avLst/>
              <a:gdLst/>
              <a:ahLst/>
              <a:cxnLst/>
              <a:rect l="l" t="t" r="r" b="b"/>
              <a:pathLst>
                <a:path w="12744053" h="3342680">
                  <a:moveTo>
                    <a:pt x="0" y="0"/>
                  </a:moveTo>
                  <a:lnTo>
                    <a:pt x="12744053" y="0"/>
                  </a:lnTo>
                  <a:lnTo>
                    <a:pt x="12744053" y="3342680"/>
                  </a:lnTo>
                  <a:lnTo>
                    <a:pt x="0" y="3342680"/>
                  </a:lnTo>
                  <a:close/>
                </a:path>
              </a:pathLst>
            </a:custGeom>
            <a:solidFill>
              <a:srgbClr val="000000">
                <a:alpha val="0"/>
              </a:srgbClr>
            </a:solidFill>
          </p:spPr>
        </p:sp>
        <p:sp>
          <p:nvSpPr>
            <p:cNvPr id="9" name="TextBox 9"/>
            <p:cNvSpPr txBox="1"/>
            <p:nvPr/>
          </p:nvSpPr>
          <p:spPr>
            <a:xfrm>
              <a:off x="0" y="-28575"/>
              <a:ext cx="12744053" cy="3371255"/>
            </a:xfrm>
            <a:prstGeom prst="rect">
              <a:avLst/>
            </a:prstGeom>
          </p:spPr>
          <p:txBody>
            <a:bodyPr lIns="0" tIns="0" rIns="0" bIns="0" rtlCol="0" anchor="t"/>
            <a:lstStyle/>
            <a:p>
              <a:pPr algn="l">
                <a:lnSpc>
                  <a:spcPts val="6562"/>
                </a:lnSpc>
              </a:pPr>
              <a:r>
                <a:rPr lang="en-US" sz="5250" b="1">
                  <a:solidFill>
                    <a:srgbClr val="282824"/>
                  </a:solidFill>
                  <a:latin typeface="Lato Bold"/>
                  <a:ea typeface="Lato Bold"/>
                  <a:cs typeface="Lato Bold"/>
                  <a:sym typeface="Lato Bold"/>
                </a:rPr>
                <a:t>Dynamic Content: Manage Blogs, Testimonials, &amp; Images Easily</a:t>
              </a:r>
            </a:p>
          </p:txBody>
        </p:sp>
      </p:grpSp>
      <p:sp>
        <p:nvSpPr>
          <p:cNvPr id="10" name="Freeform 10" descr="preencoded.png"/>
          <p:cNvSpPr/>
          <p:nvPr/>
        </p:nvSpPr>
        <p:spPr>
          <a:xfrm>
            <a:off x="7793980" y="3644652"/>
            <a:ext cx="1337072" cy="1968550"/>
          </a:xfrm>
          <a:custGeom>
            <a:avLst/>
            <a:gdLst/>
            <a:ahLst/>
            <a:cxnLst/>
            <a:rect l="l" t="t" r="r" b="b"/>
            <a:pathLst>
              <a:path w="1337072" h="1968550">
                <a:moveTo>
                  <a:pt x="0" y="0"/>
                </a:moveTo>
                <a:lnTo>
                  <a:pt x="1337072" y="0"/>
                </a:lnTo>
                <a:lnTo>
                  <a:pt x="1337072" y="1968550"/>
                </a:lnTo>
                <a:lnTo>
                  <a:pt x="0" y="1968550"/>
                </a:lnTo>
                <a:lnTo>
                  <a:pt x="0" y="0"/>
                </a:lnTo>
                <a:close/>
              </a:path>
            </a:pathLst>
          </a:custGeom>
          <a:blipFill>
            <a:blip r:embed="rId4"/>
            <a:stretch>
              <a:fillRect t="-213" b="-213"/>
            </a:stretch>
          </a:blipFill>
        </p:spPr>
      </p:sp>
      <p:grpSp>
        <p:nvGrpSpPr>
          <p:cNvPr id="11" name="Group 11"/>
          <p:cNvGrpSpPr/>
          <p:nvPr/>
        </p:nvGrpSpPr>
        <p:grpSpPr>
          <a:xfrm>
            <a:off x="9532144" y="3911948"/>
            <a:ext cx="3556248" cy="417760"/>
            <a:chOff x="0" y="0"/>
            <a:chExt cx="4741663" cy="557013"/>
          </a:xfrm>
        </p:grpSpPr>
        <p:sp>
          <p:nvSpPr>
            <p:cNvPr id="12" name="Freeform 12"/>
            <p:cNvSpPr/>
            <p:nvPr/>
          </p:nvSpPr>
          <p:spPr>
            <a:xfrm>
              <a:off x="0" y="0"/>
              <a:ext cx="4741663" cy="557013"/>
            </a:xfrm>
            <a:custGeom>
              <a:avLst/>
              <a:gdLst/>
              <a:ahLst/>
              <a:cxnLst/>
              <a:rect l="l" t="t" r="r" b="b"/>
              <a:pathLst>
                <a:path w="4741663" h="557013">
                  <a:moveTo>
                    <a:pt x="0" y="0"/>
                  </a:moveTo>
                  <a:lnTo>
                    <a:pt x="4741663" y="0"/>
                  </a:lnTo>
                  <a:lnTo>
                    <a:pt x="4741663" y="557013"/>
                  </a:lnTo>
                  <a:lnTo>
                    <a:pt x="0" y="557013"/>
                  </a:lnTo>
                  <a:close/>
                </a:path>
              </a:pathLst>
            </a:custGeom>
            <a:solidFill>
              <a:srgbClr val="000000">
                <a:alpha val="0"/>
              </a:srgbClr>
            </a:solidFill>
          </p:spPr>
        </p:sp>
        <p:sp>
          <p:nvSpPr>
            <p:cNvPr id="13" name="TextBox 13"/>
            <p:cNvSpPr txBox="1"/>
            <p:nvPr/>
          </p:nvSpPr>
          <p:spPr>
            <a:xfrm>
              <a:off x="0" y="-19050"/>
              <a:ext cx="4741663" cy="576063"/>
            </a:xfrm>
            <a:prstGeom prst="rect">
              <a:avLst/>
            </a:prstGeom>
          </p:spPr>
          <p:txBody>
            <a:bodyPr lIns="0" tIns="0" rIns="0" bIns="0" rtlCol="0" anchor="t"/>
            <a:lstStyle/>
            <a:p>
              <a:pPr algn="l">
                <a:lnSpc>
                  <a:spcPts val="3249"/>
                </a:lnSpc>
              </a:pPr>
              <a:r>
                <a:rPr lang="en-US" sz="2625" b="1">
                  <a:solidFill>
                    <a:srgbClr val="4A4A45"/>
                  </a:solidFill>
                  <a:latin typeface="Lato Bold"/>
                  <a:ea typeface="Lato Bold"/>
                  <a:cs typeface="Lato Bold"/>
                  <a:sym typeface="Lato Bold"/>
                </a:rPr>
                <a:t>Effortless Blog Creation</a:t>
              </a:r>
            </a:p>
          </p:txBody>
        </p:sp>
      </p:grpSp>
      <p:grpSp>
        <p:nvGrpSpPr>
          <p:cNvPr id="14" name="Group 14"/>
          <p:cNvGrpSpPr/>
          <p:nvPr/>
        </p:nvGrpSpPr>
        <p:grpSpPr>
          <a:xfrm>
            <a:off x="9532144" y="4490145"/>
            <a:ext cx="7819876" cy="855761"/>
            <a:chOff x="0" y="0"/>
            <a:chExt cx="10426502" cy="1141015"/>
          </a:xfrm>
        </p:grpSpPr>
        <p:sp>
          <p:nvSpPr>
            <p:cNvPr id="15" name="Freeform 15"/>
            <p:cNvSpPr/>
            <p:nvPr/>
          </p:nvSpPr>
          <p:spPr>
            <a:xfrm>
              <a:off x="0" y="0"/>
              <a:ext cx="10426502" cy="1141015"/>
            </a:xfrm>
            <a:custGeom>
              <a:avLst/>
              <a:gdLst/>
              <a:ahLst/>
              <a:cxnLst/>
              <a:rect l="l" t="t" r="r" b="b"/>
              <a:pathLst>
                <a:path w="10426502" h="1141015">
                  <a:moveTo>
                    <a:pt x="0" y="0"/>
                  </a:moveTo>
                  <a:lnTo>
                    <a:pt x="10426502" y="0"/>
                  </a:lnTo>
                  <a:lnTo>
                    <a:pt x="10426502" y="1141015"/>
                  </a:lnTo>
                  <a:lnTo>
                    <a:pt x="0" y="1141015"/>
                  </a:lnTo>
                  <a:close/>
                </a:path>
              </a:pathLst>
            </a:custGeom>
            <a:solidFill>
              <a:srgbClr val="000000">
                <a:alpha val="0"/>
              </a:srgbClr>
            </a:solidFill>
          </p:spPr>
        </p:sp>
        <p:sp>
          <p:nvSpPr>
            <p:cNvPr id="16" name="TextBox 16"/>
            <p:cNvSpPr txBox="1"/>
            <p:nvPr/>
          </p:nvSpPr>
          <p:spPr>
            <a:xfrm>
              <a:off x="0" y="-85725"/>
              <a:ext cx="10426502" cy="1226740"/>
            </a:xfrm>
            <a:prstGeom prst="rect">
              <a:avLst/>
            </a:prstGeom>
          </p:spPr>
          <p:txBody>
            <a:bodyPr lIns="0" tIns="0" rIns="0" bIns="0" rtlCol="0" anchor="t"/>
            <a:lstStyle/>
            <a:p>
              <a:pPr algn="l">
                <a:lnSpc>
                  <a:spcPts val="3312"/>
                </a:lnSpc>
              </a:pPr>
              <a:r>
                <a:rPr lang="en-US" sz="2062">
                  <a:solidFill>
                    <a:srgbClr val="4A4A45"/>
                  </a:solidFill>
                  <a:latin typeface="Lato"/>
                  <a:ea typeface="Lato"/>
                  <a:cs typeface="Lato"/>
                  <a:sym typeface="Lato"/>
                </a:rPr>
                <a:t>Admins can produce rich content with embedded images and formatting without technical skills.</a:t>
              </a:r>
            </a:p>
          </p:txBody>
        </p:sp>
      </p:grpSp>
      <p:sp>
        <p:nvSpPr>
          <p:cNvPr id="17" name="Freeform 17" descr="preencoded.png"/>
          <p:cNvSpPr/>
          <p:nvPr/>
        </p:nvSpPr>
        <p:spPr>
          <a:xfrm>
            <a:off x="7793980" y="5613201"/>
            <a:ext cx="1337072" cy="1968550"/>
          </a:xfrm>
          <a:custGeom>
            <a:avLst/>
            <a:gdLst/>
            <a:ahLst/>
            <a:cxnLst/>
            <a:rect l="l" t="t" r="r" b="b"/>
            <a:pathLst>
              <a:path w="1337072" h="1968550">
                <a:moveTo>
                  <a:pt x="0" y="0"/>
                </a:moveTo>
                <a:lnTo>
                  <a:pt x="1337072" y="0"/>
                </a:lnTo>
                <a:lnTo>
                  <a:pt x="1337072" y="1968550"/>
                </a:lnTo>
                <a:lnTo>
                  <a:pt x="0" y="1968550"/>
                </a:lnTo>
                <a:lnTo>
                  <a:pt x="0" y="0"/>
                </a:lnTo>
                <a:close/>
              </a:path>
            </a:pathLst>
          </a:custGeom>
          <a:blipFill>
            <a:blip r:embed="rId5"/>
            <a:stretch>
              <a:fillRect t="-213" b="-213"/>
            </a:stretch>
          </a:blipFill>
        </p:spPr>
      </p:sp>
      <p:grpSp>
        <p:nvGrpSpPr>
          <p:cNvPr id="18" name="Group 18"/>
          <p:cNvGrpSpPr/>
          <p:nvPr/>
        </p:nvGrpSpPr>
        <p:grpSpPr>
          <a:xfrm>
            <a:off x="9532144" y="5880498"/>
            <a:ext cx="4917132" cy="417760"/>
            <a:chOff x="0" y="0"/>
            <a:chExt cx="6556177" cy="557013"/>
          </a:xfrm>
        </p:grpSpPr>
        <p:sp>
          <p:nvSpPr>
            <p:cNvPr id="19" name="Freeform 19"/>
            <p:cNvSpPr/>
            <p:nvPr/>
          </p:nvSpPr>
          <p:spPr>
            <a:xfrm>
              <a:off x="0" y="0"/>
              <a:ext cx="6556177" cy="557013"/>
            </a:xfrm>
            <a:custGeom>
              <a:avLst/>
              <a:gdLst/>
              <a:ahLst/>
              <a:cxnLst/>
              <a:rect l="l" t="t" r="r" b="b"/>
              <a:pathLst>
                <a:path w="6556177" h="557013">
                  <a:moveTo>
                    <a:pt x="0" y="0"/>
                  </a:moveTo>
                  <a:lnTo>
                    <a:pt x="6556177" y="0"/>
                  </a:lnTo>
                  <a:lnTo>
                    <a:pt x="6556177" y="557013"/>
                  </a:lnTo>
                  <a:lnTo>
                    <a:pt x="0" y="557013"/>
                  </a:lnTo>
                  <a:close/>
                </a:path>
              </a:pathLst>
            </a:custGeom>
            <a:solidFill>
              <a:srgbClr val="000000">
                <a:alpha val="0"/>
              </a:srgbClr>
            </a:solidFill>
          </p:spPr>
        </p:sp>
        <p:sp>
          <p:nvSpPr>
            <p:cNvPr id="20" name="TextBox 20"/>
            <p:cNvSpPr txBox="1"/>
            <p:nvPr/>
          </p:nvSpPr>
          <p:spPr>
            <a:xfrm>
              <a:off x="0" y="-19050"/>
              <a:ext cx="6556177" cy="576063"/>
            </a:xfrm>
            <a:prstGeom prst="rect">
              <a:avLst/>
            </a:prstGeom>
          </p:spPr>
          <p:txBody>
            <a:bodyPr lIns="0" tIns="0" rIns="0" bIns="0" rtlCol="0" anchor="t"/>
            <a:lstStyle/>
            <a:p>
              <a:pPr algn="l">
                <a:lnSpc>
                  <a:spcPts val="3249"/>
                </a:lnSpc>
              </a:pPr>
              <a:r>
                <a:rPr lang="en-US" sz="2625" b="1">
                  <a:solidFill>
                    <a:srgbClr val="4A4A45"/>
                  </a:solidFill>
                  <a:latin typeface="Lato Bold"/>
                  <a:ea typeface="Lato Bold"/>
                  <a:cs typeface="Lato Bold"/>
                  <a:sym typeface="Lato Bold"/>
                </a:rPr>
                <a:t>Real-Time Testimonial Publishing</a:t>
              </a:r>
            </a:p>
          </p:txBody>
        </p:sp>
      </p:grpSp>
      <p:grpSp>
        <p:nvGrpSpPr>
          <p:cNvPr id="21" name="Group 21"/>
          <p:cNvGrpSpPr/>
          <p:nvPr/>
        </p:nvGrpSpPr>
        <p:grpSpPr>
          <a:xfrm>
            <a:off x="9532144" y="6458694"/>
            <a:ext cx="7819876" cy="855761"/>
            <a:chOff x="0" y="0"/>
            <a:chExt cx="10426502" cy="1141015"/>
          </a:xfrm>
        </p:grpSpPr>
        <p:sp>
          <p:nvSpPr>
            <p:cNvPr id="22" name="Freeform 22"/>
            <p:cNvSpPr/>
            <p:nvPr/>
          </p:nvSpPr>
          <p:spPr>
            <a:xfrm>
              <a:off x="0" y="0"/>
              <a:ext cx="10426502" cy="1141015"/>
            </a:xfrm>
            <a:custGeom>
              <a:avLst/>
              <a:gdLst/>
              <a:ahLst/>
              <a:cxnLst/>
              <a:rect l="l" t="t" r="r" b="b"/>
              <a:pathLst>
                <a:path w="10426502" h="1141015">
                  <a:moveTo>
                    <a:pt x="0" y="0"/>
                  </a:moveTo>
                  <a:lnTo>
                    <a:pt x="10426502" y="0"/>
                  </a:lnTo>
                  <a:lnTo>
                    <a:pt x="10426502" y="1141015"/>
                  </a:lnTo>
                  <a:lnTo>
                    <a:pt x="0" y="1141015"/>
                  </a:lnTo>
                  <a:close/>
                </a:path>
              </a:pathLst>
            </a:custGeom>
            <a:solidFill>
              <a:srgbClr val="000000">
                <a:alpha val="0"/>
              </a:srgbClr>
            </a:solidFill>
          </p:spPr>
        </p:sp>
        <p:sp>
          <p:nvSpPr>
            <p:cNvPr id="23" name="TextBox 23"/>
            <p:cNvSpPr txBox="1"/>
            <p:nvPr/>
          </p:nvSpPr>
          <p:spPr>
            <a:xfrm>
              <a:off x="0" y="-85725"/>
              <a:ext cx="10426502" cy="1226740"/>
            </a:xfrm>
            <a:prstGeom prst="rect">
              <a:avLst/>
            </a:prstGeom>
          </p:spPr>
          <p:txBody>
            <a:bodyPr lIns="0" tIns="0" rIns="0" bIns="0" rtlCol="0" anchor="t"/>
            <a:lstStyle/>
            <a:p>
              <a:pPr algn="l">
                <a:lnSpc>
                  <a:spcPts val="3312"/>
                </a:lnSpc>
              </a:pPr>
              <a:r>
                <a:rPr lang="en-US" sz="2062">
                  <a:solidFill>
                    <a:srgbClr val="4A4A45"/>
                  </a:solidFill>
                  <a:latin typeface="Lato"/>
                  <a:ea typeface="Lato"/>
                  <a:cs typeface="Lato"/>
                  <a:sym typeface="Lato"/>
                </a:rPr>
                <a:t>Client feedback is vetted and displayed instantly, building trust and transparency.</a:t>
              </a:r>
            </a:p>
          </p:txBody>
        </p:sp>
      </p:grpSp>
      <p:sp>
        <p:nvSpPr>
          <p:cNvPr id="24" name="Freeform 24" descr="preencoded.png"/>
          <p:cNvSpPr/>
          <p:nvPr/>
        </p:nvSpPr>
        <p:spPr>
          <a:xfrm>
            <a:off x="7793980" y="7581751"/>
            <a:ext cx="1337072" cy="1968550"/>
          </a:xfrm>
          <a:custGeom>
            <a:avLst/>
            <a:gdLst/>
            <a:ahLst/>
            <a:cxnLst/>
            <a:rect l="l" t="t" r="r" b="b"/>
            <a:pathLst>
              <a:path w="1337072" h="1968550">
                <a:moveTo>
                  <a:pt x="0" y="0"/>
                </a:moveTo>
                <a:lnTo>
                  <a:pt x="1337072" y="0"/>
                </a:lnTo>
                <a:lnTo>
                  <a:pt x="1337072" y="1968550"/>
                </a:lnTo>
                <a:lnTo>
                  <a:pt x="0" y="1968550"/>
                </a:lnTo>
                <a:lnTo>
                  <a:pt x="0" y="0"/>
                </a:lnTo>
                <a:close/>
              </a:path>
            </a:pathLst>
          </a:custGeom>
          <a:blipFill>
            <a:blip r:embed="rId6"/>
            <a:stretch>
              <a:fillRect t="-213" b="-213"/>
            </a:stretch>
          </a:blipFill>
        </p:spPr>
      </p:sp>
      <p:grpSp>
        <p:nvGrpSpPr>
          <p:cNvPr id="25" name="Group 25"/>
          <p:cNvGrpSpPr/>
          <p:nvPr/>
        </p:nvGrpSpPr>
        <p:grpSpPr>
          <a:xfrm>
            <a:off x="9532144" y="7849046"/>
            <a:ext cx="3668316" cy="417760"/>
            <a:chOff x="0" y="0"/>
            <a:chExt cx="4891088" cy="557013"/>
          </a:xfrm>
        </p:grpSpPr>
        <p:sp>
          <p:nvSpPr>
            <p:cNvPr id="26" name="Freeform 26"/>
            <p:cNvSpPr/>
            <p:nvPr/>
          </p:nvSpPr>
          <p:spPr>
            <a:xfrm>
              <a:off x="0" y="0"/>
              <a:ext cx="4891088" cy="557013"/>
            </a:xfrm>
            <a:custGeom>
              <a:avLst/>
              <a:gdLst/>
              <a:ahLst/>
              <a:cxnLst/>
              <a:rect l="l" t="t" r="r" b="b"/>
              <a:pathLst>
                <a:path w="4891088" h="557013">
                  <a:moveTo>
                    <a:pt x="0" y="0"/>
                  </a:moveTo>
                  <a:lnTo>
                    <a:pt x="4891088" y="0"/>
                  </a:lnTo>
                  <a:lnTo>
                    <a:pt x="4891088" y="557013"/>
                  </a:lnTo>
                  <a:lnTo>
                    <a:pt x="0" y="557013"/>
                  </a:lnTo>
                  <a:close/>
                </a:path>
              </a:pathLst>
            </a:custGeom>
            <a:solidFill>
              <a:srgbClr val="000000">
                <a:alpha val="0"/>
              </a:srgbClr>
            </a:solidFill>
          </p:spPr>
        </p:sp>
        <p:sp>
          <p:nvSpPr>
            <p:cNvPr id="27" name="TextBox 27"/>
            <p:cNvSpPr txBox="1"/>
            <p:nvPr/>
          </p:nvSpPr>
          <p:spPr>
            <a:xfrm>
              <a:off x="0" y="-19050"/>
              <a:ext cx="4891088" cy="576063"/>
            </a:xfrm>
            <a:prstGeom prst="rect">
              <a:avLst/>
            </a:prstGeom>
          </p:spPr>
          <p:txBody>
            <a:bodyPr lIns="0" tIns="0" rIns="0" bIns="0" rtlCol="0" anchor="t"/>
            <a:lstStyle/>
            <a:p>
              <a:pPr algn="l">
                <a:lnSpc>
                  <a:spcPts val="3249"/>
                </a:lnSpc>
              </a:pPr>
              <a:r>
                <a:rPr lang="en-US" sz="2625" b="1">
                  <a:solidFill>
                    <a:srgbClr val="4A4A45"/>
                  </a:solidFill>
                  <a:latin typeface="Lato Bold"/>
                  <a:ea typeface="Lato Bold"/>
                  <a:cs typeface="Lato Bold"/>
                  <a:sym typeface="Lato Bold"/>
                </a:rPr>
                <a:t>Seamless Image Updates</a:t>
              </a:r>
            </a:p>
          </p:txBody>
        </p:sp>
      </p:grpSp>
      <p:grpSp>
        <p:nvGrpSpPr>
          <p:cNvPr id="28" name="Group 28"/>
          <p:cNvGrpSpPr/>
          <p:nvPr/>
        </p:nvGrpSpPr>
        <p:grpSpPr>
          <a:xfrm>
            <a:off x="9532144" y="8427244"/>
            <a:ext cx="7819876" cy="855761"/>
            <a:chOff x="0" y="0"/>
            <a:chExt cx="10426502" cy="1141015"/>
          </a:xfrm>
        </p:grpSpPr>
        <p:sp>
          <p:nvSpPr>
            <p:cNvPr id="29" name="Freeform 29"/>
            <p:cNvSpPr/>
            <p:nvPr/>
          </p:nvSpPr>
          <p:spPr>
            <a:xfrm>
              <a:off x="0" y="0"/>
              <a:ext cx="10426502" cy="1141015"/>
            </a:xfrm>
            <a:custGeom>
              <a:avLst/>
              <a:gdLst/>
              <a:ahLst/>
              <a:cxnLst/>
              <a:rect l="l" t="t" r="r" b="b"/>
              <a:pathLst>
                <a:path w="10426502" h="1141015">
                  <a:moveTo>
                    <a:pt x="0" y="0"/>
                  </a:moveTo>
                  <a:lnTo>
                    <a:pt x="10426502" y="0"/>
                  </a:lnTo>
                  <a:lnTo>
                    <a:pt x="10426502" y="1141015"/>
                  </a:lnTo>
                  <a:lnTo>
                    <a:pt x="0" y="1141015"/>
                  </a:lnTo>
                  <a:close/>
                </a:path>
              </a:pathLst>
            </a:custGeom>
            <a:solidFill>
              <a:srgbClr val="000000">
                <a:alpha val="0"/>
              </a:srgbClr>
            </a:solidFill>
          </p:spPr>
        </p:sp>
        <p:sp>
          <p:nvSpPr>
            <p:cNvPr id="30" name="TextBox 30"/>
            <p:cNvSpPr txBox="1"/>
            <p:nvPr/>
          </p:nvSpPr>
          <p:spPr>
            <a:xfrm>
              <a:off x="0" y="-85725"/>
              <a:ext cx="10426502" cy="1226740"/>
            </a:xfrm>
            <a:prstGeom prst="rect">
              <a:avLst/>
            </a:prstGeom>
          </p:spPr>
          <p:txBody>
            <a:bodyPr lIns="0" tIns="0" rIns="0" bIns="0" rtlCol="0" anchor="t"/>
            <a:lstStyle/>
            <a:p>
              <a:pPr algn="l">
                <a:lnSpc>
                  <a:spcPts val="3312"/>
                </a:lnSpc>
              </a:pPr>
              <a:r>
                <a:rPr lang="en-US" sz="2062">
                  <a:solidFill>
                    <a:srgbClr val="4A4A45"/>
                  </a:solidFill>
                  <a:latin typeface="Lato"/>
                  <a:ea typeface="Lato"/>
                  <a:cs typeface="Lato"/>
                  <a:sym typeface="Lato"/>
                </a:rPr>
                <a:t>Drag-and-drop image uploads keep project galleries fresh and visually appealing.</a:t>
              </a:r>
            </a:p>
          </p:txBody>
        </p:sp>
      </p:gr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DDD6CC"/>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FECE6"/>
            </a:solidFill>
          </p:spPr>
        </p:sp>
      </p:grpSp>
      <p:sp>
        <p:nvSpPr>
          <p:cNvPr id="6" name="Freeform 6" descr="preencoded.png">
            <a:hlinkClick r:id="rId3" tooltip="https://gamma.app/?utm_source=made-with-gamma"/>
          </p:cNvPr>
          <p:cNvSpPr/>
          <p:nvPr/>
        </p:nvSpPr>
        <p:spPr>
          <a:xfrm>
            <a:off x="16049019" y="9686925"/>
            <a:ext cx="2153256" cy="514350"/>
          </a:xfrm>
          <a:custGeom>
            <a:avLst/>
            <a:gdLst/>
            <a:ahLst/>
            <a:cxnLst/>
            <a:rect l="l" t="t" r="r" b="b"/>
            <a:pathLst>
              <a:path w="2153256" h="514350">
                <a:moveTo>
                  <a:pt x="0" y="0"/>
                </a:moveTo>
                <a:lnTo>
                  <a:pt x="2153256" y="0"/>
                </a:lnTo>
                <a:lnTo>
                  <a:pt x="2153256" y="514350"/>
                </a:lnTo>
                <a:lnTo>
                  <a:pt x="0" y="514350"/>
                </a:lnTo>
                <a:lnTo>
                  <a:pt x="0" y="0"/>
                </a:lnTo>
                <a:close/>
              </a:path>
            </a:pathLst>
          </a:custGeom>
          <a:blipFill>
            <a:blip r:embed="rId4"/>
            <a:stretch>
              <a:fillRect/>
            </a:stretch>
          </a:blipFill>
        </p:spPr>
      </p:sp>
      <p:sp>
        <p:nvSpPr>
          <p:cNvPr id="7" name="Freeform 7" descr="preencoded.png"/>
          <p:cNvSpPr/>
          <p:nvPr/>
        </p:nvSpPr>
        <p:spPr>
          <a:xfrm>
            <a:off x="11430000" y="0"/>
            <a:ext cx="6858000" cy="10287000"/>
          </a:xfrm>
          <a:custGeom>
            <a:avLst/>
            <a:gdLst/>
            <a:ahLst/>
            <a:cxnLst/>
            <a:rect l="l" t="t" r="r" b="b"/>
            <a:pathLst>
              <a:path w="6858000" h="10287000">
                <a:moveTo>
                  <a:pt x="0" y="0"/>
                </a:moveTo>
                <a:lnTo>
                  <a:pt x="6858000" y="0"/>
                </a:lnTo>
                <a:lnTo>
                  <a:pt x="6858000" y="10287000"/>
                </a:lnTo>
                <a:lnTo>
                  <a:pt x="0" y="10287000"/>
                </a:lnTo>
                <a:lnTo>
                  <a:pt x="0" y="0"/>
                </a:lnTo>
                <a:close/>
              </a:path>
            </a:pathLst>
          </a:custGeom>
          <a:blipFill>
            <a:blip r:embed="rId5"/>
            <a:stretch>
              <a:fillRect/>
            </a:stretch>
          </a:blipFill>
        </p:spPr>
      </p:sp>
      <p:grpSp>
        <p:nvGrpSpPr>
          <p:cNvPr id="8" name="Group 8"/>
          <p:cNvGrpSpPr/>
          <p:nvPr/>
        </p:nvGrpSpPr>
        <p:grpSpPr>
          <a:xfrm>
            <a:off x="992238" y="1886694"/>
            <a:ext cx="9445526" cy="1771947"/>
            <a:chOff x="0" y="0"/>
            <a:chExt cx="12594035" cy="2362597"/>
          </a:xfrm>
        </p:grpSpPr>
        <p:sp>
          <p:nvSpPr>
            <p:cNvPr id="9" name="Freeform 9"/>
            <p:cNvSpPr/>
            <p:nvPr/>
          </p:nvSpPr>
          <p:spPr>
            <a:xfrm>
              <a:off x="0" y="0"/>
              <a:ext cx="12594035" cy="2362597"/>
            </a:xfrm>
            <a:custGeom>
              <a:avLst/>
              <a:gdLst/>
              <a:ahLst/>
              <a:cxnLst/>
              <a:rect l="l" t="t" r="r" b="b"/>
              <a:pathLst>
                <a:path w="12594035" h="2362597">
                  <a:moveTo>
                    <a:pt x="0" y="0"/>
                  </a:moveTo>
                  <a:lnTo>
                    <a:pt x="12594035" y="0"/>
                  </a:lnTo>
                  <a:lnTo>
                    <a:pt x="12594035" y="2362597"/>
                  </a:lnTo>
                  <a:lnTo>
                    <a:pt x="0" y="2362597"/>
                  </a:lnTo>
                  <a:close/>
                </a:path>
              </a:pathLst>
            </a:custGeom>
            <a:solidFill>
              <a:srgbClr val="000000">
                <a:alpha val="0"/>
              </a:srgbClr>
            </a:solidFill>
          </p:spPr>
        </p:sp>
        <p:sp>
          <p:nvSpPr>
            <p:cNvPr id="10" name="TextBox 10"/>
            <p:cNvSpPr txBox="1"/>
            <p:nvPr/>
          </p:nvSpPr>
          <p:spPr>
            <a:xfrm>
              <a:off x="0" y="-38100"/>
              <a:ext cx="12594035" cy="2400697"/>
            </a:xfrm>
            <a:prstGeom prst="rect">
              <a:avLst/>
            </a:prstGeom>
          </p:spPr>
          <p:txBody>
            <a:bodyPr lIns="0" tIns="0" rIns="0" bIns="0" rtlCol="0" anchor="t"/>
            <a:lstStyle/>
            <a:p>
              <a:pPr algn="l">
                <a:lnSpc>
                  <a:spcPts val="6937"/>
                </a:lnSpc>
              </a:pPr>
              <a:r>
                <a:rPr lang="en-US" sz="5562" b="1">
                  <a:solidFill>
                    <a:srgbClr val="282824"/>
                  </a:solidFill>
                  <a:latin typeface="Lato Bold"/>
                  <a:ea typeface="Lato Bold"/>
                  <a:cs typeface="Lato Bold"/>
                  <a:sym typeface="Lato Bold"/>
                </a:rPr>
                <a:t>Engaging UI/UX: A Modern Website for Visitors</a:t>
              </a:r>
            </a:p>
          </p:txBody>
        </p:sp>
      </p:grpSp>
      <p:sp>
        <p:nvSpPr>
          <p:cNvPr id="11" name="Freeform 11" descr="preencoded.png"/>
          <p:cNvSpPr/>
          <p:nvPr/>
        </p:nvSpPr>
        <p:spPr>
          <a:xfrm>
            <a:off x="992238" y="4083844"/>
            <a:ext cx="708720" cy="708720"/>
          </a:xfrm>
          <a:custGeom>
            <a:avLst/>
            <a:gdLst/>
            <a:ahLst/>
            <a:cxnLst/>
            <a:rect l="l" t="t" r="r" b="b"/>
            <a:pathLst>
              <a:path w="708720" h="708720">
                <a:moveTo>
                  <a:pt x="0" y="0"/>
                </a:moveTo>
                <a:lnTo>
                  <a:pt x="708719" y="0"/>
                </a:lnTo>
                <a:lnTo>
                  <a:pt x="708719" y="708720"/>
                </a:lnTo>
                <a:lnTo>
                  <a:pt x="0" y="708720"/>
                </a:lnTo>
                <a:lnTo>
                  <a:pt x="0" y="0"/>
                </a:lnTo>
                <a:close/>
              </a:path>
            </a:pathLst>
          </a:custGeom>
          <a:blipFill>
            <a:blip r:embed="rId6"/>
            <a:stretch>
              <a:fillRect/>
            </a:stretch>
          </a:blipFill>
        </p:spPr>
      </p:sp>
      <p:grpSp>
        <p:nvGrpSpPr>
          <p:cNvPr id="12" name="Group 12"/>
          <p:cNvGrpSpPr/>
          <p:nvPr/>
        </p:nvGrpSpPr>
        <p:grpSpPr>
          <a:xfrm>
            <a:off x="992238" y="5076081"/>
            <a:ext cx="2912269" cy="885825"/>
            <a:chOff x="0" y="0"/>
            <a:chExt cx="3883025" cy="1181100"/>
          </a:xfrm>
        </p:grpSpPr>
        <p:sp>
          <p:nvSpPr>
            <p:cNvPr id="13" name="Freeform 13"/>
            <p:cNvSpPr/>
            <p:nvPr/>
          </p:nvSpPr>
          <p:spPr>
            <a:xfrm>
              <a:off x="0" y="0"/>
              <a:ext cx="3883025" cy="1181100"/>
            </a:xfrm>
            <a:custGeom>
              <a:avLst/>
              <a:gdLst/>
              <a:ahLst/>
              <a:cxnLst/>
              <a:rect l="l" t="t" r="r" b="b"/>
              <a:pathLst>
                <a:path w="3883025" h="1181100">
                  <a:moveTo>
                    <a:pt x="0" y="0"/>
                  </a:moveTo>
                  <a:lnTo>
                    <a:pt x="3883025" y="0"/>
                  </a:lnTo>
                  <a:lnTo>
                    <a:pt x="3883025" y="1181100"/>
                  </a:lnTo>
                  <a:lnTo>
                    <a:pt x="0" y="1181100"/>
                  </a:lnTo>
                  <a:close/>
                </a:path>
              </a:pathLst>
            </a:custGeom>
            <a:solidFill>
              <a:srgbClr val="000000">
                <a:alpha val="0"/>
              </a:srgbClr>
            </a:solidFill>
          </p:spPr>
        </p:sp>
        <p:sp>
          <p:nvSpPr>
            <p:cNvPr id="14" name="TextBox 14"/>
            <p:cNvSpPr txBox="1"/>
            <p:nvPr/>
          </p:nvSpPr>
          <p:spPr>
            <a:xfrm>
              <a:off x="0" y="-19050"/>
              <a:ext cx="3883025" cy="1200150"/>
            </a:xfrm>
            <a:prstGeom prst="rect">
              <a:avLst/>
            </a:prstGeom>
          </p:spPr>
          <p:txBody>
            <a:bodyPr lIns="0" tIns="0" rIns="0" bIns="0" rtlCol="0" anchor="t"/>
            <a:lstStyle/>
            <a:p>
              <a:pPr algn="l">
                <a:lnSpc>
                  <a:spcPts val="3437"/>
                </a:lnSpc>
              </a:pPr>
              <a:r>
                <a:rPr lang="en-US" sz="2750" b="1">
                  <a:solidFill>
                    <a:srgbClr val="4A4A45"/>
                  </a:solidFill>
                  <a:latin typeface="Lato Bold"/>
                  <a:ea typeface="Lato Bold"/>
                  <a:cs typeface="Lato Bold"/>
                  <a:sym typeface="Lato Bold"/>
                </a:rPr>
                <a:t>Responsive Design</a:t>
              </a:r>
            </a:p>
          </p:txBody>
        </p:sp>
      </p:grpSp>
      <p:grpSp>
        <p:nvGrpSpPr>
          <p:cNvPr id="15" name="Group 15"/>
          <p:cNvGrpSpPr/>
          <p:nvPr/>
        </p:nvGrpSpPr>
        <p:grpSpPr>
          <a:xfrm>
            <a:off x="992238" y="6132016"/>
            <a:ext cx="2912269" cy="2268141"/>
            <a:chOff x="0" y="0"/>
            <a:chExt cx="3883025" cy="3024188"/>
          </a:xfrm>
        </p:grpSpPr>
        <p:sp>
          <p:nvSpPr>
            <p:cNvPr id="16" name="Freeform 16"/>
            <p:cNvSpPr/>
            <p:nvPr/>
          </p:nvSpPr>
          <p:spPr>
            <a:xfrm>
              <a:off x="0" y="0"/>
              <a:ext cx="3883025" cy="3024188"/>
            </a:xfrm>
            <a:custGeom>
              <a:avLst/>
              <a:gdLst/>
              <a:ahLst/>
              <a:cxnLst/>
              <a:rect l="l" t="t" r="r" b="b"/>
              <a:pathLst>
                <a:path w="3883025" h="3024188">
                  <a:moveTo>
                    <a:pt x="0" y="0"/>
                  </a:moveTo>
                  <a:lnTo>
                    <a:pt x="3883025" y="0"/>
                  </a:lnTo>
                  <a:lnTo>
                    <a:pt x="3883025" y="3024188"/>
                  </a:lnTo>
                  <a:lnTo>
                    <a:pt x="0" y="3024188"/>
                  </a:lnTo>
                  <a:close/>
                </a:path>
              </a:pathLst>
            </a:custGeom>
            <a:solidFill>
              <a:srgbClr val="000000">
                <a:alpha val="0"/>
              </a:srgbClr>
            </a:solidFill>
          </p:spPr>
        </p:sp>
        <p:sp>
          <p:nvSpPr>
            <p:cNvPr id="17" name="TextBox 17"/>
            <p:cNvSpPr txBox="1"/>
            <p:nvPr/>
          </p:nvSpPr>
          <p:spPr>
            <a:xfrm>
              <a:off x="0" y="-95250"/>
              <a:ext cx="3883025" cy="3119438"/>
            </a:xfrm>
            <a:prstGeom prst="rect">
              <a:avLst/>
            </a:prstGeom>
          </p:spPr>
          <p:txBody>
            <a:bodyPr lIns="0" tIns="0" rIns="0" bIns="0" rtlCol="0" anchor="t"/>
            <a:lstStyle/>
            <a:p>
              <a:pPr algn="l">
                <a:lnSpc>
                  <a:spcPts val="3562"/>
                </a:lnSpc>
              </a:pPr>
              <a:r>
                <a:rPr lang="en-US" sz="2187">
                  <a:solidFill>
                    <a:srgbClr val="4A4A45"/>
                  </a:solidFill>
                  <a:latin typeface="Lato"/>
                  <a:ea typeface="Lato"/>
                  <a:cs typeface="Lato"/>
                  <a:sym typeface="Lato"/>
                </a:rPr>
                <a:t>Website adapts beautifully for desktops, tablets, and smartphones for seamless access.</a:t>
              </a:r>
            </a:p>
          </p:txBody>
        </p:sp>
      </p:grpSp>
      <p:sp>
        <p:nvSpPr>
          <p:cNvPr id="18" name="Freeform 18" descr="preencoded.png"/>
          <p:cNvSpPr/>
          <p:nvPr/>
        </p:nvSpPr>
        <p:spPr>
          <a:xfrm>
            <a:off x="4258866" y="4083844"/>
            <a:ext cx="708720" cy="708720"/>
          </a:xfrm>
          <a:custGeom>
            <a:avLst/>
            <a:gdLst/>
            <a:ahLst/>
            <a:cxnLst/>
            <a:rect l="l" t="t" r="r" b="b"/>
            <a:pathLst>
              <a:path w="708720" h="708720">
                <a:moveTo>
                  <a:pt x="0" y="0"/>
                </a:moveTo>
                <a:lnTo>
                  <a:pt x="708720" y="0"/>
                </a:lnTo>
                <a:lnTo>
                  <a:pt x="708720" y="708720"/>
                </a:lnTo>
                <a:lnTo>
                  <a:pt x="0" y="708720"/>
                </a:lnTo>
                <a:lnTo>
                  <a:pt x="0" y="0"/>
                </a:lnTo>
                <a:close/>
              </a:path>
            </a:pathLst>
          </a:custGeom>
          <a:blipFill>
            <a:blip r:embed="rId7"/>
            <a:stretch>
              <a:fillRect/>
            </a:stretch>
          </a:blipFill>
        </p:spPr>
      </p:sp>
      <p:grpSp>
        <p:nvGrpSpPr>
          <p:cNvPr id="19" name="Group 19"/>
          <p:cNvGrpSpPr/>
          <p:nvPr/>
        </p:nvGrpSpPr>
        <p:grpSpPr>
          <a:xfrm>
            <a:off x="4258866" y="5076081"/>
            <a:ext cx="2912269" cy="885825"/>
            <a:chOff x="0" y="0"/>
            <a:chExt cx="3883025" cy="1181100"/>
          </a:xfrm>
        </p:grpSpPr>
        <p:sp>
          <p:nvSpPr>
            <p:cNvPr id="20" name="Freeform 20"/>
            <p:cNvSpPr/>
            <p:nvPr/>
          </p:nvSpPr>
          <p:spPr>
            <a:xfrm>
              <a:off x="0" y="0"/>
              <a:ext cx="3883025" cy="1181100"/>
            </a:xfrm>
            <a:custGeom>
              <a:avLst/>
              <a:gdLst/>
              <a:ahLst/>
              <a:cxnLst/>
              <a:rect l="l" t="t" r="r" b="b"/>
              <a:pathLst>
                <a:path w="3883025" h="1181100">
                  <a:moveTo>
                    <a:pt x="0" y="0"/>
                  </a:moveTo>
                  <a:lnTo>
                    <a:pt x="3883025" y="0"/>
                  </a:lnTo>
                  <a:lnTo>
                    <a:pt x="3883025" y="1181100"/>
                  </a:lnTo>
                  <a:lnTo>
                    <a:pt x="0" y="1181100"/>
                  </a:lnTo>
                  <a:close/>
                </a:path>
              </a:pathLst>
            </a:custGeom>
            <a:solidFill>
              <a:srgbClr val="000000">
                <a:alpha val="0"/>
              </a:srgbClr>
            </a:solidFill>
          </p:spPr>
        </p:sp>
        <p:sp>
          <p:nvSpPr>
            <p:cNvPr id="21" name="TextBox 21"/>
            <p:cNvSpPr txBox="1"/>
            <p:nvPr/>
          </p:nvSpPr>
          <p:spPr>
            <a:xfrm>
              <a:off x="0" y="-19050"/>
              <a:ext cx="3883025" cy="1200150"/>
            </a:xfrm>
            <a:prstGeom prst="rect">
              <a:avLst/>
            </a:prstGeom>
          </p:spPr>
          <p:txBody>
            <a:bodyPr lIns="0" tIns="0" rIns="0" bIns="0" rtlCol="0" anchor="t"/>
            <a:lstStyle/>
            <a:p>
              <a:pPr algn="l">
                <a:lnSpc>
                  <a:spcPts val="3437"/>
                </a:lnSpc>
              </a:pPr>
              <a:r>
                <a:rPr lang="en-US" sz="2750" b="1">
                  <a:solidFill>
                    <a:srgbClr val="4A4A45"/>
                  </a:solidFill>
                  <a:latin typeface="Lato Bold"/>
                  <a:ea typeface="Lato Bold"/>
                  <a:cs typeface="Lato Bold"/>
                  <a:sym typeface="Lato Bold"/>
                </a:rPr>
                <a:t>Visual Storytelling</a:t>
              </a:r>
            </a:p>
          </p:txBody>
        </p:sp>
      </p:grpSp>
      <p:grpSp>
        <p:nvGrpSpPr>
          <p:cNvPr id="22" name="Group 22"/>
          <p:cNvGrpSpPr/>
          <p:nvPr/>
        </p:nvGrpSpPr>
        <p:grpSpPr>
          <a:xfrm>
            <a:off x="4258866" y="6132016"/>
            <a:ext cx="2912269" cy="2268141"/>
            <a:chOff x="0" y="0"/>
            <a:chExt cx="3883025" cy="3024188"/>
          </a:xfrm>
        </p:grpSpPr>
        <p:sp>
          <p:nvSpPr>
            <p:cNvPr id="23" name="Freeform 23"/>
            <p:cNvSpPr/>
            <p:nvPr/>
          </p:nvSpPr>
          <p:spPr>
            <a:xfrm>
              <a:off x="0" y="0"/>
              <a:ext cx="3883025" cy="3024188"/>
            </a:xfrm>
            <a:custGeom>
              <a:avLst/>
              <a:gdLst/>
              <a:ahLst/>
              <a:cxnLst/>
              <a:rect l="l" t="t" r="r" b="b"/>
              <a:pathLst>
                <a:path w="3883025" h="3024188">
                  <a:moveTo>
                    <a:pt x="0" y="0"/>
                  </a:moveTo>
                  <a:lnTo>
                    <a:pt x="3883025" y="0"/>
                  </a:lnTo>
                  <a:lnTo>
                    <a:pt x="3883025" y="3024188"/>
                  </a:lnTo>
                  <a:lnTo>
                    <a:pt x="0" y="3024188"/>
                  </a:lnTo>
                  <a:close/>
                </a:path>
              </a:pathLst>
            </a:custGeom>
            <a:solidFill>
              <a:srgbClr val="000000">
                <a:alpha val="0"/>
              </a:srgbClr>
            </a:solidFill>
          </p:spPr>
        </p:sp>
        <p:sp>
          <p:nvSpPr>
            <p:cNvPr id="24" name="TextBox 24"/>
            <p:cNvSpPr txBox="1"/>
            <p:nvPr/>
          </p:nvSpPr>
          <p:spPr>
            <a:xfrm>
              <a:off x="0" y="-95250"/>
              <a:ext cx="3883025" cy="3119438"/>
            </a:xfrm>
            <a:prstGeom prst="rect">
              <a:avLst/>
            </a:prstGeom>
          </p:spPr>
          <p:txBody>
            <a:bodyPr lIns="0" tIns="0" rIns="0" bIns="0" rtlCol="0" anchor="t"/>
            <a:lstStyle/>
            <a:p>
              <a:pPr algn="l">
                <a:lnSpc>
                  <a:spcPts val="3562"/>
                </a:lnSpc>
              </a:pPr>
              <a:r>
                <a:rPr lang="en-US" sz="2187">
                  <a:solidFill>
                    <a:srgbClr val="4A4A45"/>
                  </a:solidFill>
                  <a:latin typeface="Lato"/>
                  <a:ea typeface="Lato"/>
                  <a:cs typeface="Lato"/>
                  <a:sym typeface="Lato"/>
                </a:rPr>
                <a:t>High-impact imagery and interactive elements immerse visitors in company projects.</a:t>
              </a:r>
            </a:p>
          </p:txBody>
        </p:sp>
      </p:grpSp>
      <p:sp>
        <p:nvSpPr>
          <p:cNvPr id="25" name="Freeform 25" descr="preencoded.png"/>
          <p:cNvSpPr/>
          <p:nvPr/>
        </p:nvSpPr>
        <p:spPr>
          <a:xfrm>
            <a:off x="7525494" y="4083844"/>
            <a:ext cx="708720" cy="708720"/>
          </a:xfrm>
          <a:custGeom>
            <a:avLst/>
            <a:gdLst/>
            <a:ahLst/>
            <a:cxnLst/>
            <a:rect l="l" t="t" r="r" b="b"/>
            <a:pathLst>
              <a:path w="708720" h="708720">
                <a:moveTo>
                  <a:pt x="0" y="0"/>
                </a:moveTo>
                <a:lnTo>
                  <a:pt x="708720" y="0"/>
                </a:lnTo>
                <a:lnTo>
                  <a:pt x="708720" y="708720"/>
                </a:lnTo>
                <a:lnTo>
                  <a:pt x="0" y="708720"/>
                </a:lnTo>
                <a:lnTo>
                  <a:pt x="0" y="0"/>
                </a:lnTo>
                <a:close/>
              </a:path>
            </a:pathLst>
          </a:custGeom>
          <a:blipFill>
            <a:blip r:embed="rId8"/>
            <a:stretch>
              <a:fillRect/>
            </a:stretch>
          </a:blipFill>
        </p:spPr>
      </p:sp>
      <p:grpSp>
        <p:nvGrpSpPr>
          <p:cNvPr id="26" name="Group 26"/>
          <p:cNvGrpSpPr/>
          <p:nvPr/>
        </p:nvGrpSpPr>
        <p:grpSpPr>
          <a:xfrm>
            <a:off x="7525494" y="5076081"/>
            <a:ext cx="2912269" cy="442912"/>
            <a:chOff x="0" y="0"/>
            <a:chExt cx="3883025" cy="590550"/>
          </a:xfrm>
        </p:grpSpPr>
        <p:sp>
          <p:nvSpPr>
            <p:cNvPr id="27" name="Freeform 27"/>
            <p:cNvSpPr/>
            <p:nvPr/>
          </p:nvSpPr>
          <p:spPr>
            <a:xfrm>
              <a:off x="0" y="0"/>
              <a:ext cx="3883025" cy="590550"/>
            </a:xfrm>
            <a:custGeom>
              <a:avLst/>
              <a:gdLst/>
              <a:ahLst/>
              <a:cxnLst/>
              <a:rect l="l" t="t" r="r" b="b"/>
              <a:pathLst>
                <a:path w="3883025" h="590550">
                  <a:moveTo>
                    <a:pt x="0" y="0"/>
                  </a:moveTo>
                  <a:lnTo>
                    <a:pt x="3883025" y="0"/>
                  </a:lnTo>
                  <a:lnTo>
                    <a:pt x="3883025" y="590550"/>
                  </a:lnTo>
                  <a:lnTo>
                    <a:pt x="0" y="590550"/>
                  </a:lnTo>
                  <a:close/>
                </a:path>
              </a:pathLst>
            </a:custGeom>
            <a:solidFill>
              <a:srgbClr val="000000">
                <a:alpha val="0"/>
              </a:srgbClr>
            </a:solidFill>
          </p:spPr>
        </p:sp>
        <p:sp>
          <p:nvSpPr>
            <p:cNvPr id="28" name="TextBox 28"/>
            <p:cNvSpPr txBox="1"/>
            <p:nvPr/>
          </p:nvSpPr>
          <p:spPr>
            <a:xfrm>
              <a:off x="0" y="-19050"/>
              <a:ext cx="3883025" cy="609600"/>
            </a:xfrm>
            <a:prstGeom prst="rect">
              <a:avLst/>
            </a:prstGeom>
          </p:spPr>
          <p:txBody>
            <a:bodyPr lIns="0" tIns="0" rIns="0" bIns="0" rtlCol="0" anchor="t"/>
            <a:lstStyle/>
            <a:p>
              <a:pPr algn="l">
                <a:lnSpc>
                  <a:spcPts val="3437"/>
                </a:lnSpc>
              </a:pPr>
              <a:r>
                <a:rPr lang="en-US" sz="2750" b="1">
                  <a:solidFill>
                    <a:srgbClr val="4A4A45"/>
                  </a:solidFill>
                  <a:latin typeface="Lato Bold"/>
                  <a:ea typeface="Lato Bold"/>
                  <a:cs typeface="Lato Bold"/>
                  <a:sym typeface="Lato Bold"/>
                </a:rPr>
                <a:t>Fast Performance</a:t>
              </a:r>
            </a:p>
          </p:txBody>
        </p:sp>
      </p:grpSp>
      <p:grpSp>
        <p:nvGrpSpPr>
          <p:cNvPr id="29" name="Group 29"/>
          <p:cNvGrpSpPr/>
          <p:nvPr/>
        </p:nvGrpSpPr>
        <p:grpSpPr>
          <a:xfrm>
            <a:off x="7525494" y="5689104"/>
            <a:ext cx="2912269" cy="1814512"/>
            <a:chOff x="0" y="0"/>
            <a:chExt cx="3883025" cy="2419350"/>
          </a:xfrm>
        </p:grpSpPr>
        <p:sp>
          <p:nvSpPr>
            <p:cNvPr id="30" name="Freeform 30"/>
            <p:cNvSpPr/>
            <p:nvPr/>
          </p:nvSpPr>
          <p:spPr>
            <a:xfrm>
              <a:off x="0" y="0"/>
              <a:ext cx="3883025" cy="2419350"/>
            </a:xfrm>
            <a:custGeom>
              <a:avLst/>
              <a:gdLst/>
              <a:ahLst/>
              <a:cxnLst/>
              <a:rect l="l" t="t" r="r" b="b"/>
              <a:pathLst>
                <a:path w="3883025" h="2419350">
                  <a:moveTo>
                    <a:pt x="0" y="0"/>
                  </a:moveTo>
                  <a:lnTo>
                    <a:pt x="3883025" y="0"/>
                  </a:lnTo>
                  <a:lnTo>
                    <a:pt x="3883025" y="2419350"/>
                  </a:lnTo>
                  <a:lnTo>
                    <a:pt x="0" y="2419350"/>
                  </a:lnTo>
                  <a:close/>
                </a:path>
              </a:pathLst>
            </a:custGeom>
            <a:solidFill>
              <a:srgbClr val="000000">
                <a:alpha val="0"/>
              </a:srgbClr>
            </a:solidFill>
          </p:spPr>
        </p:sp>
        <p:sp>
          <p:nvSpPr>
            <p:cNvPr id="31" name="TextBox 31"/>
            <p:cNvSpPr txBox="1"/>
            <p:nvPr/>
          </p:nvSpPr>
          <p:spPr>
            <a:xfrm>
              <a:off x="0" y="-95250"/>
              <a:ext cx="3883025" cy="2514600"/>
            </a:xfrm>
            <a:prstGeom prst="rect">
              <a:avLst/>
            </a:prstGeom>
          </p:spPr>
          <p:txBody>
            <a:bodyPr lIns="0" tIns="0" rIns="0" bIns="0" rtlCol="0" anchor="t"/>
            <a:lstStyle/>
            <a:p>
              <a:pPr algn="l">
                <a:lnSpc>
                  <a:spcPts val="3562"/>
                </a:lnSpc>
              </a:pPr>
              <a:r>
                <a:rPr lang="en-US" sz="2187">
                  <a:solidFill>
                    <a:srgbClr val="4A4A45"/>
                  </a:solidFill>
                  <a:latin typeface="Lato"/>
                  <a:ea typeface="Lato"/>
                  <a:cs typeface="Lato"/>
                  <a:sym typeface="Lato"/>
                </a:rPr>
                <a:t>Optimized code and media deliver quick load times, enhancing user satisfaction.</a:t>
              </a:r>
            </a:p>
          </p:txBody>
        </p:sp>
      </p:gr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DDD6CC"/>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FECE6"/>
            </a:solidFill>
          </p:spPr>
        </p:sp>
      </p:grpSp>
      <p:grpSp>
        <p:nvGrpSpPr>
          <p:cNvPr id="6" name="Group 6"/>
          <p:cNvGrpSpPr/>
          <p:nvPr/>
        </p:nvGrpSpPr>
        <p:grpSpPr>
          <a:xfrm>
            <a:off x="992238" y="2710755"/>
            <a:ext cx="16303526" cy="1771947"/>
            <a:chOff x="0" y="0"/>
            <a:chExt cx="21738035" cy="2362597"/>
          </a:xfrm>
        </p:grpSpPr>
        <p:sp>
          <p:nvSpPr>
            <p:cNvPr id="7" name="Freeform 7"/>
            <p:cNvSpPr/>
            <p:nvPr/>
          </p:nvSpPr>
          <p:spPr>
            <a:xfrm>
              <a:off x="0" y="0"/>
              <a:ext cx="21738034" cy="2362597"/>
            </a:xfrm>
            <a:custGeom>
              <a:avLst/>
              <a:gdLst/>
              <a:ahLst/>
              <a:cxnLst/>
              <a:rect l="l" t="t" r="r" b="b"/>
              <a:pathLst>
                <a:path w="21738034" h="2362597">
                  <a:moveTo>
                    <a:pt x="0" y="0"/>
                  </a:moveTo>
                  <a:lnTo>
                    <a:pt x="21738034" y="0"/>
                  </a:lnTo>
                  <a:lnTo>
                    <a:pt x="21738034" y="2362597"/>
                  </a:lnTo>
                  <a:lnTo>
                    <a:pt x="0" y="2362597"/>
                  </a:lnTo>
                  <a:close/>
                </a:path>
              </a:pathLst>
            </a:custGeom>
            <a:solidFill>
              <a:srgbClr val="000000">
                <a:alpha val="0"/>
              </a:srgbClr>
            </a:solidFill>
          </p:spPr>
        </p:sp>
        <p:sp>
          <p:nvSpPr>
            <p:cNvPr id="8" name="TextBox 8"/>
            <p:cNvSpPr txBox="1"/>
            <p:nvPr/>
          </p:nvSpPr>
          <p:spPr>
            <a:xfrm>
              <a:off x="0" y="-38100"/>
              <a:ext cx="21738035" cy="2400697"/>
            </a:xfrm>
            <a:prstGeom prst="rect">
              <a:avLst/>
            </a:prstGeom>
          </p:spPr>
          <p:txBody>
            <a:bodyPr lIns="0" tIns="0" rIns="0" bIns="0" rtlCol="0" anchor="t"/>
            <a:lstStyle/>
            <a:p>
              <a:pPr algn="l">
                <a:lnSpc>
                  <a:spcPts val="6937"/>
                </a:lnSpc>
              </a:pPr>
              <a:r>
                <a:rPr lang="en-US" sz="5562" b="1">
                  <a:solidFill>
                    <a:srgbClr val="282824"/>
                  </a:solidFill>
                  <a:latin typeface="Lato Bold"/>
                  <a:ea typeface="Lato Bold"/>
                  <a:cs typeface="Lato Bold"/>
                  <a:sym typeface="Lato Bold"/>
                </a:rPr>
                <a:t>Technology Stack: Frontend &amp; Backend Technologies Used</a:t>
              </a:r>
            </a:p>
          </p:txBody>
        </p:sp>
      </p:grpSp>
      <p:grpSp>
        <p:nvGrpSpPr>
          <p:cNvPr id="9" name="Group 9"/>
          <p:cNvGrpSpPr/>
          <p:nvPr/>
        </p:nvGrpSpPr>
        <p:grpSpPr>
          <a:xfrm>
            <a:off x="992238" y="5191422"/>
            <a:ext cx="3544044" cy="442912"/>
            <a:chOff x="0" y="0"/>
            <a:chExt cx="4725392" cy="590550"/>
          </a:xfrm>
        </p:grpSpPr>
        <p:sp>
          <p:nvSpPr>
            <p:cNvPr id="10" name="Freeform 10"/>
            <p:cNvSpPr/>
            <p:nvPr/>
          </p:nvSpPr>
          <p:spPr>
            <a:xfrm>
              <a:off x="0" y="0"/>
              <a:ext cx="4725392" cy="590550"/>
            </a:xfrm>
            <a:custGeom>
              <a:avLst/>
              <a:gdLst/>
              <a:ahLst/>
              <a:cxnLst/>
              <a:rect l="l" t="t" r="r" b="b"/>
              <a:pathLst>
                <a:path w="4725392" h="590550">
                  <a:moveTo>
                    <a:pt x="0" y="0"/>
                  </a:moveTo>
                  <a:lnTo>
                    <a:pt x="4725392" y="0"/>
                  </a:lnTo>
                  <a:lnTo>
                    <a:pt x="4725392" y="590550"/>
                  </a:lnTo>
                  <a:lnTo>
                    <a:pt x="0" y="590550"/>
                  </a:lnTo>
                  <a:close/>
                </a:path>
              </a:pathLst>
            </a:custGeom>
            <a:solidFill>
              <a:srgbClr val="000000">
                <a:alpha val="0"/>
              </a:srgbClr>
            </a:solidFill>
          </p:spPr>
        </p:sp>
        <p:sp>
          <p:nvSpPr>
            <p:cNvPr id="11" name="TextBox 11"/>
            <p:cNvSpPr txBox="1"/>
            <p:nvPr/>
          </p:nvSpPr>
          <p:spPr>
            <a:xfrm>
              <a:off x="0" y="-19050"/>
              <a:ext cx="4725392" cy="609600"/>
            </a:xfrm>
            <a:prstGeom prst="rect">
              <a:avLst/>
            </a:prstGeom>
          </p:spPr>
          <p:txBody>
            <a:bodyPr lIns="0" tIns="0" rIns="0" bIns="0" rtlCol="0" anchor="t"/>
            <a:lstStyle/>
            <a:p>
              <a:pPr algn="l">
                <a:lnSpc>
                  <a:spcPts val="3437"/>
                </a:lnSpc>
              </a:pPr>
              <a:r>
                <a:rPr lang="en-US" sz="2750" b="1">
                  <a:solidFill>
                    <a:srgbClr val="282824"/>
                  </a:solidFill>
                  <a:latin typeface="Lato Bold"/>
                  <a:ea typeface="Lato Bold"/>
                  <a:cs typeface="Lato Bold"/>
                  <a:sym typeface="Lato Bold"/>
                </a:rPr>
                <a:t>Frontend</a:t>
              </a:r>
            </a:p>
          </p:txBody>
        </p:sp>
      </p:grpSp>
      <p:grpSp>
        <p:nvGrpSpPr>
          <p:cNvPr id="12" name="Group 12"/>
          <p:cNvGrpSpPr/>
          <p:nvPr/>
        </p:nvGrpSpPr>
        <p:grpSpPr>
          <a:xfrm>
            <a:off x="992238" y="5917852"/>
            <a:ext cx="7805886" cy="453629"/>
            <a:chOff x="0" y="0"/>
            <a:chExt cx="10407848" cy="604838"/>
          </a:xfrm>
        </p:grpSpPr>
        <p:sp>
          <p:nvSpPr>
            <p:cNvPr id="13" name="Freeform 13"/>
            <p:cNvSpPr/>
            <p:nvPr/>
          </p:nvSpPr>
          <p:spPr>
            <a:xfrm>
              <a:off x="0" y="0"/>
              <a:ext cx="10407848" cy="604838"/>
            </a:xfrm>
            <a:custGeom>
              <a:avLst/>
              <a:gdLst/>
              <a:ahLst/>
              <a:cxnLst/>
              <a:rect l="l" t="t" r="r" b="b"/>
              <a:pathLst>
                <a:path w="10407848" h="604838">
                  <a:moveTo>
                    <a:pt x="0" y="0"/>
                  </a:moveTo>
                  <a:lnTo>
                    <a:pt x="10407848" y="0"/>
                  </a:lnTo>
                  <a:lnTo>
                    <a:pt x="10407848" y="604838"/>
                  </a:lnTo>
                  <a:lnTo>
                    <a:pt x="0" y="604838"/>
                  </a:lnTo>
                  <a:close/>
                </a:path>
              </a:pathLst>
            </a:custGeom>
            <a:solidFill>
              <a:srgbClr val="000000">
                <a:alpha val="0"/>
              </a:srgbClr>
            </a:solidFill>
          </p:spPr>
        </p:sp>
        <p:sp>
          <p:nvSpPr>
            <p:cNvPr id="14" name="TextBox 14"/>
            <p:cNvSpPr txBox="1"/>
            <p:nvPr/>
          </p:nvSpPr>
          <p:spPr>
            <a:xfrm>
              <a:off x="0" y="-95250"/>
              <a:ext cx="10407848" cy="700088"/>
            </a:xfrm>
            <a:prstGeom prst="rect">
              <a:avLst/>
            </a:prstGeom>
          </p:spPr>
          <p:txBody>
            <a:bodyPr lIns="0" tIns="0" rIns="0" bIns="0" rtlCol="0" anchor="t"/>
            <a:lstStyle/>
            <a:p>
              <a:pPr marL="164951" lvl="1" algn="l">
                <a:lnSpc>
                  <a:spcPts val="3562"/>
                </a:lnSpc>
              </a:pPr>
              <a:r>
                <a:rPr lang="en-IN" sz="2187" dirty="0">
                  <a:solidFill>
                    <a:srgbClr val="4A4A45"/>
                  </a:solidFill>
                  <a:latin typeface="Lato"/>
                  <a:ea typeface="Lato"/>
                  <a:cs typeface="Lato"/>
                  <a:sym typeface="Lato"/>
                </a:rPr>
                <a:t>  Html </a:t>
              </a:r>
              <a:r>
                <a:rPr lang="en-IN" sz="2187" dirty="0" smtClean="0">
                  <a:solidFill>
                    <a:srgbClr val="4A4A45"/>
                  </a:solidFill>
                  <a:latin typeface="Lato"/>
                  <a:ea typeface="Lato"/>
                  <a:cs typeface="Lato"/>
                  <a:sym typeface="Lato"/>
                </a:rPr>
                <a:t> ,</a:t>
              </a:r>
              <a:r>
                <a:rPr lang="en-IN" sz="2187" dirty="0" err="1" smtClean="0">
                  <a:solidFill>
                    <a:srgbClr val="4A4A45"/>
                  </a:solidFill>
                  <a:latin typeface="Lato"/>
                  <a:ea typeface="Lato"/>
                  <a:cs typeface="Lato"/>
                  <a:sym typeface="Lato"/>
                </a:rPr>
                <a:t>css</a:t>
              </a:r>
              <a:r>
                <a:rPr lang="en-IN" sz="2187" dirty="0" smtClean="0">
                  <a:solidFill>
                    <a:srgbClr val="4A4A45"/>
                  </a:solidFill>
                  <a:latin typeface="Lato"/>
                  <a:ea typeface="Lato"/>
                  <a:cs typeface="Lato"/>
                  <a:sym typeface="Lato"/>
                </a:rPr>
                <a:t> , </a:t>
              </a:r>
              <a:r>
                <a:rPr lang="en-IN" sz="2187" dirty="0">
                  <a:solidFill>
                    <a:srgbClr val="4A4A45"/>
                  </a:solidFill>
                  <a:latin typeface="Lato"/>
                  <a:ea typeface="Lato"/>
                  <a:cs typeface="Lato"/>
                  <a:sym typeface="Lato"/>
                </a:rPr>
                <a:t>Java script </a:t>
              </a:r>
              <a:endParaRPr lang="en-US" sz="2187" dirty="0">
                <a:solidFill>
                  <a:srgbClr val="4A4A45"/>
                </a:solidFill>
                <a:latin typeface="Lato"/>
                <a:ea typeface="Lato"/>
                <a:cs typeface="Lato"/>
                <a:sym typeface="Lato"/>
              </a:endParaRPr>
            </a:p>
          </p:txBody>
        </p:sp>
      </p:grpSp>
      <p:grpSp>
        <p:nvGrpSpPr>
          <p:cNvPr id="15" name="Group 15"/>
          <p:cNvGrpSpPr/>
          <p:nvPr/>
        </p:nvGrpSpPr>
        <p:grpSpPr>
          <a:xfrm>
            <a:off x="992238" y="6470600"/>
            <a:ext cx="7805886" cy="453629"/>
            <a:chOff x="0" y="0"/>
            <a:chExt cx="10407848" cy="604838"/>
          </a:xfrm>
        </p:grpSpPr>
        <p:sp>
          <p:nvSpPr>
            <p:cNvPr id="16" name="Freeform 16"/>
            <p:cNvSpPr/>
            <p:nvPr/>
          </p:nvSpPr>
          <p:spPr>
            <a:xfrm>
              <a:off x="0" y="0"/>
              <a:ext cx="10407848" cy="604838"/>
            </a:xfrm>
            <a:custGeom>
              <a:avLst/>
              <a:gdLst/>
              <a:ahLst/>
              <a:cxnLst/>
              <a:rect l="l" t="t" r="r" b="b"/>
              <a:pathLst>
                <a:path w="10407848" h="604838">
                  <a:moveTo>
                    <a:pt x="0" y="0"/>
                  </a:moveTo>
                  <a:lnTo>
                    <a:pt x="10407848" y="0"/>
                  </a:lnTo>
                  <a:lnTo>
                    <a:pt x="10407848" y="604838"/>
                  </a:lnTo>
                  <a:lnTo>
                    <a:pt x="0" y="604838"/>
                  </a:lnTo>
                  <a:close/>
                </a:path>
              </a:pathLst>
            </a:custGeom>
            <a:solidFill>
              <a:srgbClr val="000000">
                <a:alpha val="0"/>
              </a:srgbClr>
            </a:solidFill>
          </p:spPr>
        </p:sp>
        <p:sp>
          <p:nvSpPr>
            <p:cNvPr id="17" name="TextBox 17"/>
            <p:cNvSpPr txBox="1"/>
            <p:nvPr/>
          </p:nvSpPr>
          <p:spPr>
            <a:xfrm>
              <a:off x="0" y="-95250"/>
              <a:ext cx="10407848" cy="700088"/>
            </a:xfrm>
            <a:prstGeom prst="rect">
              <a:avLst/>
            </a:prstGeom>
          </p:spPr>
          <p:txBody>
            <a:bodyPr lIns="0" tIns="0" rIns="0" bIns="0" rtlCol="0" anchor="t"/>
            <a:lstStyle/>
            <a:p>
              <a:pPr marL="329902" lvl="1" indent="-164951" algn="l">
                <a:lnSpc>
                  <a:spcPts val="3562"/>
                </a:lnSpc>
                <a:buFont typeface="Arial"/>
                <a:buChar char="•"/>
              </a:pPr>
              <a:r>
                <a:rPr lang="en-US" sz="2187">
                  <a:solidFill>
                    <a:srgbClr val="4A4A45"/>
                  </a:solidFill>
                  <a:latin typeface="Lato"/>
                  <a:ea typeface="Lato"/>
                  <a:cs typeface="Lato"/>
                  <a:sym typeface="Lato"/>
                </a:rPr>
                <a:t>Responsive CSS frameworks like Tailwind</a:t>
              </a:r>
            </a:p>
          </p:txBody>
        </p:sp>
      </p:grpSp>
      <p:grpSp>
        <p:nvGrpSpPr>
          <p:cNvPr id="18" name="Group 18"/>
          <p:cNvGrpSpPr/>
          <p:nvPr/>
        </p:nvGrpSpPr>
        <p:grpSpPr>
          <a:xfrm>
            <a:off x="992238" y="7023347"/>
            <a:ext cx="7805886" cy="453629"/>
            <a:chOff x="0" y="0"/>
            <a:chExt cx="10407848" cy="604838"/>
          </a:xfrm>
        </p:grpSpPr>
        <p:sp>
          <p:nvSpPr>
            <p:cNvPr id="19" name="Freeform 19"/>
            <p:cNvSpPr/>
            <p:nvPr/>
          </p:nvSpPr>
          <p:spPr>
            <a:xfrm>
              <a:off x="0" y="0"/>
              <a:ext cx="10407848" cy="604838"/>
            </a:xfrm>
            <a:custGeom>
              <a:avLst/>
              <a:gdLst/>
              <a:ahLst/>
              <a:cxnLst/>
              <a:rect l="l" t="t" r="r" b="b"/>
              <a:pathLst>
                <a:path w="10407848" h="604838">
                  <a:moveTo>
                    <a:pt x="0" y="0"/>
                  </a:moveTo>
                  <a:lnTo>
                    <a:pt x="10407848" y="0"/>
                  </a:lnTo>
                  <a:lnTo>
                    <a:pt x="10407848" y="604838"/>
                  </a:lnTo>
                  <a:lnTo>
                    <a:pt x="0" y="604838"/>
                  </a:lnTo>
                  <a:close/>
                </a:path>
              </a:pathLst>
            </a:custGeom>
            <a:solidFill>
              <a:srgbClr val="000000">
                <a:alpha val="0"/>
              </a:srgbClr>
            </a:solidFill>
          </p:spPr>
        </p:sp>
        <p:sp>
          <p:nvSpPr>
            <p:cNvPr id="20" name="TextBox 20"/>
            <p:cNvSpPr txBox="1"/>
            <p:nvPr/>
          </p:nvSpPr>
          <p:spPr>
            <a:xfrm>
              <a:off x="0" y="-95250"/>
              <a:ext cx="10407848" cy="700088"/>
            </a:xfrm>
            <a:prstGeom prst="rect">
              <a:avLst/>
            </a:prstGeom>
          </p:spPr>
          <p:txBody>
            <a:bodyPr lIns="0" tIns="0" rIns="0" bIns="0" rtlCol="0" anchor="t"/>
            <a:lstStyle/>
            <a:p>
              <a:pPr marL="329902" lvl="1" indent="-164951" algn="l">
                <a:lnSpc>
                  <a:spcPts val="3562"/>
                </a:lnSpc>
                <a:buFont typeface="Arial"/>
                <a:buChar char="•"/>
              </a:pPr>
              <a:r>
                <a:rPr lang="en-US" sz="2187">
                  <a:solidFill>
                    <a:srgbClr val="4A4A45"/>
                  </a:solidFill>
                  <a:latin typeface="Lato"/>
                  <a:ea typeface="Lato"/>
                  <a:cs typeface="Lato"/>
                  <a:sym typeface="Lato"/>
                </a:rPr>
                <a:t>Dynamic content fetching via REST APIs</a:t>
              </a:r>
            </a:p>
          </p:txBody>
        </p:sp>
      </p:grpSp>
      <p:grpSp>
        <p:nvGrpSpPr>
          <p:cNvPr id="21" name="Group 21"/>
          <p:cNvGrpSpPr/>
          <p:nvPr/>
        </p:nvGrpSpPr>
        <p:grpSpPr>
          <a:xfrm>
            <a:off x="9499401" y="5191422"/>
            <a:ext cx="3544044" cy="442912"/>
            <a:chOff x="0" y="0"/>
            <a:chExt cx="4725392" cy="590550"/>
          </a:xfrm>
        </p:grpSpPr>
        <p:sp>
          <p:nvSpPr>
            <p:cNvPr id="22" name="Freeform 22"/>
            <p:cNvSpPr/>
            <p:nvPr/>
          </p:nvSpPr>
          <p:spPr>
            <a:xfrm>
              <a:off x="0" y="0"/>
              <a:ext cx="4725392" cy="590550"/>
            </a:xfrm>
            <a:custGeom>
              <a:avLst/>
              <a:gdLst/>
              <a:ahLst/>
              <a:cxnLst/>
              <a:rect l="l" t="t" r="r" b="b"/>
              <a:pathLst>
                <a:path w="4725392" h="590550">
                  <a:moveTo>
                    <a:pt x="0" y="0"/>
                  </a:moveTo>
                  <a:lnTo>
                    <a:pt x="4725392" y="0"/>
                  </a:lnTo>
                  <a:lnTo>
                    <a:pt x="4725392" y="590550"/>
                  </a:lnTo>
                  <a:lnTo>
                    <a:pt x="0" y="590550"/>
                  </a:lnTo>
                  <a:close/>
                </a:path>
              </a:pathLst>
            </a:custGeom>
            <a:solidFill>
              <a:srgbClr val="000000">
                <a:alpha val="0"/>
              </a:srgbClr>
            </a:solidFill>
          </p:spPr>
        </p:sp>
        <p:sp>
          <p:nvSpPr>
            <p:cNvPr id="23" name="TextBox 23"/>
            <p:cNvSpPr txBox="1"/>
            <p:nvPr/>
          </p:nvSpPr>
          <p:spPr>
            <a:xfrm>
              <a:off x="0" y="-19050"/>
              <a:ext cx="4725392" cy="609600"/>
            </a:xfrm>
            <a:prstGeom prst="rect">
              <a:avLst/>
            </a:prstGeom>
          </p:spPr>
          <p:txBody>
            <a:bodyPr lIns="0" tIns="0" rIns="0" bIns="0" rtlCol="0" anchor="t"/>
            <a:lstStyle/>
            <a:p>
              <a:pPr algn="l">
                <a:lnSpc>
                  <a:spcPts val="3437"/>
                </a:lnSpc>
              </a:pPr>
              <a:r>
                <a:rPr lang="en-US" sz="2750" b="1">
                  <a:solidFill>
                    <a:srgbClr val="282824"/>
                  </a:solidFill>
                  <a:latin typeface="Lato Bold"/>
                  <a:ea typeface="Lato Bold"/>
                  <a:cs typeface="Lato Bold"/>
                  <a:sym typeface="Lato Bold"/>
                </a:rPr>
                <a:t>Backend</a:t>
              </a:r>
            </a:p>
          </p:txBody>
        </p:sp>
      </p:grpSp>
      <p:grpSp>
        <p:nvGrpSpPr>
          <p:cNvPr id="24" name="Group 24"/>
          <p:cNvGrpSpPr/>
          <p:nvPr/>
        </p:nvGrpSpPr>
        <p:grpSpPr>
          <a:xfrm>
            <a:off x="9499401" y="5917852"/>
            <a:ext cx="7805886" cy="453629"/>
            <a:chOff x="0" y="0"/>
            <a:chExt cx="10407848" cy="604838"/>
          </a:xfrm>
        </p:grpSpPr>
        <p:sp>
          <p:nvSpPr>
            <p:cNvPr id="25" name="Freeform 25"/>
            <p:cNvSpPr/>
            <p:nvPr/>
          </p:nvSpPr>
          <p:spPr>
            <a:xfrm>
              <a:off x="0" y="0"/>
              <a:ext cx="10407848" cy="604838"/>
            </a:xfrm>
            <a:custGeom>
              <a:avLst/>
              <a:gdLst/>
              <a:ahLst/>
              <a:cxnLst/>
              <a:rect l="l" t="t" r="r" b="b"/>
              <a:pathLst>
                <a:path w="10407848" h="604838">
                  <a:moveTo>
                    <a:pt x="0" y="0"/>
                  </a:moveTo>
                  <a:lnTo>
                    <a:pt x="10407848" y="0"/>
                  </a:lnTo>
                  <a:lnTo>
                    <a:pt x="10407848" y="604838"/>
                  </a:lnTo>
                  <a:lnTo>
                    <a:pt x="0" y="604838"/>
                  </a:lnTo>
                  <a:close/>
                </a:path>
              </a:pathLst>
            </a:custGeom>
            <a:solidFill>
              <a:srgbClr val="000000">
                <a:alpha val="0"/>
              </a:srgbClr>
            </a:solidFill>
          </p:spPr>
        </p:sp>
        <p:sp>
          <p:nvSpPr>
            <p:cNvPr id="26" name="TextBox 26"/>
            <p:cNvSpPr txBox="1"/>
            <p:nvPr/>
          </p:nvSpPr>
          <p:spPr>
            <a:xfrm>
              <a:off x="0" y="-95250"/>
              <a:ext cx="10407848" cy="700088"/>
            </a:xfrm>
            <a:prstGeom prst="rect">
              <a:avLst/>
            </a:prstGeom>
          </p:spPr>
          <p:txBody>
            <a:bodyPr lIns="0" tIns="0" rIns="0" bIns="0" rtlCol="0" anchor="t"/>
            <a:lstStyle/>
            <a:p>
              <a:pPr marL="329902" lvl="1" indent="-164951" algn="l">
                <a:lnSpc>
                  <a:spcPts val="3562"/>
                </a:lnSpc>
                <a:buFont typeface="Arial"/>
                <a:buChar char="•"/>
              </a:pPr>
              <a:r>
                <a:rPr lang="en-US" sz="2187" dirty="0" err="1" smtClean="0">
                  <a:solidFill>
                    <a:srgbClr val="4A4A45"/>
                  </a:solidFill>
                  <a:latin typeface="Lato"/>
                  <a:ea typeface="Lato"/>
                  <a:cs typeface="Lato"/>
                  <a:sym typeface="Lato"/>
                </a:rPr>
                <a:t>SpringBoot</a:t>
              </a:r>
              <a:r>
                <a:rPr lang="en-US" sz="2187" dirty="0" smtClean="0">
                  <a:solidFill>
                    <a:srgbClr val="4A4A45"/>
                  </a:solidFill>
                  <a:latin typeface="Lato"/>
                  <a:ea typeface="Lato"/>
                  <a:cs typeface="Lato"/>
                  <a:sym typeface="Lato"/>
                </a:rPr>
                <a:t> </a:t>
              </a:r>
              <a:r>
                <a:rPr lang="en-US" sz="2187" dirty="0">
                  <a:solidFill>
                    <a:srgbClr val="4A4A45"/>
                  </a:solidFill>
                  <a:latin typeface="Lato"/>
                  <a:ea typeface="Lato"/>
                  <a:cs typeface="Lato"/>
                  <a:sym typeface="Lato"/>
                </a:rPr>
                <a:t>with </a:t>
              </a:r>
              <a:r>
                <a:rPr lang="en-US" sz="2187" dirty="0" smtClean="0">
                  <a:solidFill>
                    <a:srgbClr val="4A4A45"/>
                  </a:solidFill>
                  <a:latin typeface="Lato"/>
                  <a:ea typeface="Lato"/>
                  <a:cs typeface="Lato"/>
                  <a:sym typeface="Lato"/>
                </a:rPr>
                <a:t>java</a:t>
              </a:r>
              <a:r>
                <a:rPr lang="en-US" sz="2187" dirty="0" smtClean="0">
                  <a:solidFill>
                    <a:srgbClr val="4A4A45"/>
                  </a:solidFill>
                  <a:latin typeface="Lato"/>
                  <a:ea typeface="Lato"/>
                  <a:cs typeface="Lato"/>
                  <a:sym typeface="Lato"/>
                </a:rPr>
                <a:t> </a:t>
              </a:r>
              <a:r>
                <a:rPr lang="en-US" sz="2187" dirty="0">
                  <a:solidFill>
                    <a:srgbClr val="4A4A45"/>
                  </a:solidFill>
                  <a:latin typeface="Lato"/>
                  <a:ea typeface="Lato"/>
                  <a:cs typeface="Lato"/>
                  <a:sym typeface="Lato"/>
                </a:rPr>
                <a:t>for scalable server</a:t>
              </a:r>
            </a:p>
          </p:txBody>
        </p:sp>
      </p:grpSp>
      <p:grpSp>
        <p:nvGrpSpPr>
          <p:cNvPr id="27" name="Group 27"/>
          <p:cNvGrpSpPr/>
          <p:nvPr/>
        </p:nvGrpSpPr>
        <p:grpSpPr>
          <a:xfrm>
            <a:off x="9499401" y="6470600"/>
            <a:ext cx="7805886" cy="453629"/>
            <a:chOff x="0" y="0"/>
            <a:chExt cx="10407848" cy="604838"/>
          </a:xfrm>
        </p:grpSpPr>
        <p:sp>
          <p:nvSpPr>
            <p:cNvPr id="28" name="Freeform 28"/>
            <p:cNvSpPr/>
            <p:nvPr/>
          </p:nvSpPr>
          <p:spPr>
            <a:xfrm>
              <a:off x="0" y="0"/>
              <a:ext cx="10407848" cy="604838"/>
            </a:xfrm>
            <a:custGeom>
              <a:avLst/>
              <a:gdLst/>
              <a:ahLst/>
              <a:cxnLst/>
              <a:rect l="l" t="t" r="r" b="b"/>
              <a:pathLst>
                <a:path w="10407848" h="604838">
                  <a:moveTo>
                    <a:pt x="0" y="0"/>
                  </a:moveTo>
                  <a:lnTo>
                    <a:pt x="10407848" y="0"/>
                  </a:lnTo>
                  <a:lnTo>
                    <a:pt x="10407848" y="604838"/>
                  </a:lnTo>
                  <a:lnTo>
                    <a:pt x="0" y="604838"/>
                  </a:lnTo>
                  <a:close/>
                </a:path>
              </a:pathLst>
            </a:custGeom>
            <a:solidFill>
              <a:srgbClr val="000000">
                <a:alpha val="0"/>
              </a:srgbClr>
            </a:solidFill>
          </p:spPr>
        </p:sp>
        <p:sp>
          <p:nvSpPr>
            <p:cNvPr id="29" name="TextBox 29"/>
            <p:cNvSpPr txBox="1"/>
            <p:nvPr/>
          </p:nvSpPr>
          <p:spPr>
            <a:xfrm>
              <a:off x="0" y="-95250"/>
              <a:ext cx="10407848" cy="700088"/>
            </a:xfrm>
            <a:prstGeom prst="rect">
              <a:avLst/>
            </a:prstGeom>
          </p:spPr>
          <p:txBody>
            <a:bodyPr lIns="0" tIns="0" rIns="0" bIns="0" rtlCol="0" anchor="t"/>
            <a:lstStyle/>
            <a:p>
              <a:pPr marL="329902" lvl="1" indent="-164951" algn="l">
                <a:lnSpc>
                  <a:spcPts val="3562"/>
                </a:lnSpc>
                <a:buFont typeface="Arial"/>
                <a:buChar char="•"/>
              </a:pPr>
              <a:r>
                <a:rPr lang="en-US" sz="2187">
                  <a:solidFill>
                    <a:srgbClr val="4A4A45"/>
                  </a:solidFill>
                  <a:latin typeface="Lato"/>
                  <a:ea typeface="Lato"/>
                  <a:cs typeface="Lato"/>
                  <a:sym typeface="Lato"/>
                </a:rPr>
                <a:t>MongoDB for flexible data storage</a:t>
              </a:r>
            </a:p>
          </p:txBody>
        </p:sp>
      </p:grpSp>
      <p:grpSp>
        <p:nvGrpSpPr>
          <p:cNvPr id="30" name="Group 30"/>
          <p:cNvGrpSpPr/>
          <p:nvPr/>
        </p:nvGrpSpPr>
        <p:grpSpPr>
          <a:xfrm>
            <a:off x="9499401" y="7023347"/>
            <a:ext cx="7805886" cy="453629"/>
            <a:chOff x="0" y="0"/>
            <a:chExt cx="10407848" cy="604838"/>
          </a:xfrm>
        </p:grpSpPr>
        <p:sp>
          <p:nvSpPr>
            <p:cNvPr id="31" name="Freeform 31"/>
            <p:cNvSpPr/>
            <p:nvPr/>
          </p:nvSpPr>
          <p:spPr>
            <a:xfrm>
              <a:off x="0" y="0"/>
              <a:ext cx="10407848" cy="604838"/>
            </a:xfrm>
            <a:custGeom>
              <a:avLst/>
              <a:gdLst/>
              <a:ahLst/>
              <a:cxnLst/>
              <a:rect l="l" t="t" r="r" b="b"/>
              <a:pathLst>
                <a:path w="10407848" h="604838">
                  <a:moveTo>
                    <a:pt x="0" y="0"/>
                  </a:moveTo>
                  <a:lnTo>
                    <a:pt x="10407848" y="0"/>
                  </a:lnTo>
                  <a:lnTo>
                    <a:pt x="10407848" y="604838"/>
                  </a:lnTo>
                  <a:lnTo>
                    <a:pt x="0" y="604838"/>
                  </a:lnTo>
                  <a:close/>
                </a:path>
              </a:pathLst>
            </a:custGeom>
            <a:solidFill>
              <a:srgbClr val="000000">
                <a:alpha val="0"/>
              </a:srgbClr>
            </a:solidFill>
          </p:spPr>
        </p:sp>
        <p:sp>
          <p:nvSpPr>
            <p:cNvPr id="32" name="TextBox 32"/>
            <p:cNvSpPr txBox="1"/>
            <p:nvPr/>
          </p:nvSpPr>
          <p:spPr>
            <a:xfrm>
              <a:off x="0" y="-95250"/>
              <a:ext cx="10407848" cy="700088"/>
            </a:xfrm>
            <a:prstGeom prst="rect">
              <a:avLst/>
            </a:prstGeom>
          </p:spPr>
          <p:txBody>
            <a:bodyPr lIns="0" tIns="0" rIns="0" bIns="0" rtlCol="0" anchor="t"/>
            <a:lstStyle/>
            <a:p>
              <a:pPr marL="329902" lvl="1" indent="-164951" algn="l">
                <a:lnSpc>
                  <a:spcPts val="3562"/>
                </a:lnSpc>
                <a:buFont typeface="Arial"/>
                <a:buChar char="•"/>
              </a:pPr>
              <a:r>
                <a:rPr lang="en-US" sz="2187">
                  <a:solidFill>
                    <a:srgbClr val="4A4A45"/>
                  </a:solidFill>
                  <a:latin typeface="Lato"/>
                  <a:ea typeface="Lato"/>
                  <a:cs typeface="Lato"/>
                  <a:sym typeface="Lato"/>
                </a:rPr>
                <a:t>JWT Authentication for secure admin access</a:t>
              </a:r>
            </a:p>
          </p:txBody>
        </p:sp>
      </p:gr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DDD6CC"/>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FECE6"/>
            </a:solidFill>
          </p:spPr>
        </p:sp>
      </p:grpSp>
      <p:sp>
        <p:nvSpPr>
          <p:cNvPr id="6" name="Freeform 6" descr="preencoded.png"/>
          <p:cNvSpPr/>
          <p:nvPr/>
        </p:nvSpPr>
        <p:spPr>
          <a:xfrm>
            <a:off x="0" y="0"/>
            <a:ext cx="6858000" cy="10289530"/>
          </a:xfrm>
          <a:custGeom>
            <a:avLst/>
            <a:gdLst/>
            <a:ahLst/>
            <a:cxnLst/>
            <a:rect l="l" t="t" r="r" b="b"/>
            <a:pathLst>
              <a:path w="6858000" h="10289530">
                <a:moveTo>
                  <a:pt x="0" y="0"/>
                </a:moveTo>
                <a:lnTo>
                  <a:pt x="6858000" y="0"/>
                </a:lnTo>
                <a:lnTo>
                  <a:pt x="6858000" y="10289530"/>
                </a:lnTo>
                <a:lnTo>
                  <a:pt x="0" y="10289530"/>
                </a:lnTo>
                <a:lnTo>
                  <a:pt x="0" y="0"/>
                </a:lnTo>
                <a:close/>
              </a:path>
            </a:pathLst>
          </a:custGeom>
          <a:blipFill>
            <a:blip r:embed="rId3"/>
            <a:stretch>
              <a:fillRect l="-12" r="-12"/>
            </a:stretch>
          </a:blipFill>
        </p:spPr>
      </p:sp>
      <p:grpSp>
        <p:nvGrpSpPr>
          <p:cNvPr id="7" name="Group 7"/>
          <p:cNvGrpSpPr/>
          <p:nvPr/>
        </p:nvGrpSpPr>
        <p:grpSpPr>
          <a:xfrm>
            <a:off x="7828658" y="762744"/>
            <a:ext cx="9488686" cy="1733253"/>
            <a:chOff x="0" y="0"/>
            <a:chExt cx="12651582" cy="2311003"/>
          </a:xfrm>
        </p:grpSpPr>
        <p:sp>
          <p:nvSpPr>
            <p:cNvPr id="8" name="Freeform 8"/>
            <p:cNvSpPr/>
            <p:nvPr/>
          </p:nvSpPr>
          <p:spPr>
            <a:xfrm>
              <a:off x="0" y="0"/>
              <a:ext cx="12651582" cy="2311003"/>
            </a:xfrm>
            <a:custGeom>
              <a:avLst/>
              <a:gdLst/>
              <a:ahLst/>
              <a:cxnLst/>
              <a:rect l="l" t="t" r="r" b="b"/>
              <a:pathLst>
                <a:path w="12651582" h="2311003">
                  <a:moveTo>
                    <a:pt x="0" y="0"/>
                  </a:moveTo>
                  <a:lnTo>
                    <a:pt x="12651582" y="0"/>
                  </a:lnTo>
                  <a:lnTo>
                    <a:pt x="12651582" y="2311003"/>
                  </a:lnTo>
                  <a:lnTo>
                    <a:pt x="0" y="2311003"/>
                  </a:lnTo>
                  <a:close/>
                </a:path>
              </a:pathLst>
            </a:custGeom>
            <a:solidFill>
              <a:srgbClr val="000000">
                <a:alpha val="0"/>
              </a:srgbClr>
            </a:solidFill>
          </p:spPr>
        </p:sp>
        <p:sp>
          <p:nvSpPr>
            <p:cNvPr id="9" name="TextBox 9"/>
            <p:cNvSpPr txBox="1"/>
            <p:nvPr/>
          </p:nvSpPr>
          <p:spPr>
            <a:xfrm>
              <a:off x="0" y="-38100"/>
              <a:ext cx="12651582" cy="2349103"/>
            </a:xfrm>
            <a:prstGeom prst="rect">
              <a:avLst/>
            </a:prstGeom>
          </p:spPr>
          <p:txBody>
            <a:bodyPr lIns="0" tIns="0" rIns="0" bIns="0" rtlCol="0" anchor="t"/>
            <a:lstStyle/>
            <a:p>
              <a:pPr algn="l">
                <a:lnSpc>
                  <a:spcPts val="6812"/>
                </a:lnSpc>
              </a:pPr>
              <a:r>
                <a:rPr lang="en-US" sz="5437" b="1">
                  <a:solidFill>
                    <a:srgbClr val="282824"/>
                  </a:solidFill>
                  <a:latin typeface="Lato Bold"/>
                  <a:ea typeface="Lato Bold"/>
                  <a:cs typeface="Lato Bold"/>
                  <a:sym typeface="Lato Bold"/>
                </a:rPr>
                <a:t>Demo: A Walkthrough of the System</a:t>
              </a:r>
            </a:p>
          </p:txBody>
        </p:sp>
      </p:grpSp>
      <p:grpSp>
        <p:nvGrpSpPr>
          <p:cNvPr id="10" name="Group 10"/>
          <p:cNvGrpSpPr/>
          <p:nvPr/>
        </p:nvGrpSpPr>
        <p:grpSpPr>
          <a:xfrm>
            <a:off x="7828658" y="2911971"/>
            <a:ext cx="207913" cy="1043583"/>
            <a:chOff x="0" y="0"/>
            <a:chExt cx="277217" cy="1391443"/>
          </a:xfrm>
        </p:grpSpPr>
        <p:sp>
          <p:nvSpPr>
            <p:cNvPr id="11" name="Freeform 11"/>
            <p:cNvSpPr/>
            <p:nvPr/>
          </p:nvSpPr>
          <p:spPr>
            <a:xfrm>
              <a:off x="0" y="0"/>
              <a:ext cx="277241" cy="1391412"/>
            </a:xfrm>
            <a:custGeom>
              <a:avLst/>
              <a:gdLst/>
              <a:ahLst/>
              <a:cxnLst/>
              <a:rect l="l" t="t" r="r" b="b"/>
              <a:pathLst>
                <a:path w="277241" h="1391412">
                  <a:moveTo>
                    <a:pt x="0" y="55499"/>
                  </a:moveTo>
                  <a:cubicBezTo>
                    <a:pt x="0" y="24892"/>
                    <a:pt x="24892" y="0"/>
                    <a:pt x="55499" y="0"/>
                  </a:cubicBezTo>
                  <a:lnTo>
                    <a:pt x="221742" y="0"/>
                  </a:lnTo>
                  <a:cubicBezTo>
                    <a:pt x="252349" y="0"/>
                    <a:pt x="277241" y="24892"/>
                    <a:pt x="277241" y="55499"/>
                  </a:cubicBezTo>
                  <a:lnTo>
                    <a:pt x="277241" y="1335913"/>
                  </a:lnTo>
                  <a:cubicBezTo>
                    <a:pt x="277241" y="1366520"/>
                    <a:pt x="252349" y="1391412"/>
                    <a:pt x="221742" y="1391412"/>
                  </a:cubicBezTo>
                  <a:lnTo>
                    <a:pt x="55499" y="1391412"/>
                  </a:lnTo>
                  <a:cubicBezTo>
                    <a:pt x="24892" y="1391412"/>
                    <a:pt x="0" y="1366520"/>
                    <a:pt x="0" y="1335913"/>
                  </a:cubicBezTo>
                  <a:close/>
                </a:path>
              </a:pathLst>
            </a:custGeom>
            <a:solidFill>
              <a:srgbClr val="E5DFD2"/>
            </a:solidFill>
          </p:spPr>
        </p:sp>
      </p:grpSp>
      <p:grpSp>
        <p:nvGrpSpPr>
          <p:cNvPr id="12" name="Group 12"/>
          <p:cNvGrpSpPr/>
          <p:nvPr/>
        </p:nvGrpSpPr>
        <p:grpSpPr>
          <a:xfrm>
            <a:off x="8452545" y="2911971"/>
            <a:ext cx="3467100" cy="433388"/>
            <a:chOff x="0" y="0"/>
            <a:chExt cx="4622800" cy="577850"/>
          </a:xfrm>
        </p:grpSpPr>
        <p:sp>
          <p:nvSpPr>
            <p:cNvPr id="13" name="Freeform 13"/>
            <p:cNvSpPr/>
            <p:nvPr/>
          </p:nvSpPr>
          <p:spPr>
            <a:xfrm>
              <a:off x="0" y="0"/>
              <a:ext cx="4622800" cy="577850"/>
            </a:xfrm>
            <a:custGeom>
              <a:avLst/>
              <a:gdLst/>
              <a:ahLst/>
              <a:cxnLst/>
              <a:rect l="l" t="t" r="r" b="b"/>
              <a:pathLst>
                <a:path w="4622800" h="577850">
                  <a:moveTo>
                    <a:pt x="0" y="0"/>
                  </a:moveTo>
                  <a:lnTo>
                    <a:pt x="4622800" y="0"/>
                  </a:lnTo>
                  <a:lnTo>
                    <a:pt x="4622800" y="577850"/>
                  </a:lnTo>
                  <a:lnTo>
                    <a:pt x="0" y="577850"/>
                  </a:lnTo>
                  <a:close/>
                </a:path>
              </a:pathLst>
            </a:custGeom>
            <a:solidFill>
              <a:srgbClr val="000000">
                <a:alpha val="0"/>
              </a:srgbClr>
            </a:solidFill>
          </p:spPr>
        </p:sp>
        <p:sp>
          <p:nvSpPr>
            <p:cNvPr id="14" name="TextBox 14"/>
            <p:cNvSpPr txBox="1"/>
            <p:nvPr/>
          </p:nvSpPr>
          <p:spPr>
            <a:xfrm>
              <a:off x="0" y="-19050"/>
              <a:ext cx="4622800" cy="596900"/>
            </a:xfrm>
            <a:prstGeom prst="rect">
              <a:avLst/>
            </a:prstGeom>
          </p:spPr>
          <p:txBody>
            <a:bodyPr lIns="0" tIns="0" rIns="0" bIns="0" rtlCol="0" anchor="t"/>
            <a:lstStyle/>
            <a:p>
              <a:pPr algn="l">
                <a:lnSpc>
                  <a:spcPts val="3374"/>
                </a:lnSpc>
              </a:pPr>
              <a:r>
                <a:rPr lang="en-US" sz="2687" b="1">
                  <a:solidFill>
                    <a:srgbClr val="4A4A45"/>
                  </a:solidFill>
                  <a:latin typeface="Lato Bold"/>
                  <a:ea typeface="Lato Bold"/>
                  <a:cs typeface="Lato Bold"/>
                  <a:sym typeface="Lato Bold"/>
                </a:rPr>
                <a:t>Login &amp; Access</a:t>
              </a:r>
            </a:p>
          </p:txBody>
        </p:sp>
      </p:grpSp>
      <p:grpSp>
        <p:nvGrpSpPr>
          <p:cNvPr id="15" name="Group 15"/>
          <p:cNvGrpSpPr/>
          <p:nvPr/>
        </p:nvGrpSpPr>
        <p:grpSpPr>
          <a:xfrm>
            <a:off x="8452545" y="3511749"/>
            <a:ext cx="8864799" cy="443805"/>
            <a:chOff x="0" y="0"/>
            <a:chExt cx="11819732" cy="591740"/>
          </a:xfrm>
        </p:grpSpPr>
        <p:sp>
          <p:nvSpPr>
            <p:cNvPr id="16" name="Freeform 16"/>
            <p:cNvSpPr/>
            <p:nvPr/>
          </p:nvSpPr>
          <p:spPr>
            <a:xfrm>
              <a:off x="0" y="0"/>
              <a:ext cx="11819732" cy="591740"/>
            </a:xfrm>
            <a:custGeom>
              <a:avLst/>
              <a:gdLst/>
              <a:ahLst/>
              <a:cxnLst/>
              <a:rect l="l" t="t" r="r" b="b"/>
              <a:pathLst>
                <a:path w="11819732" h="591740">
                  <a:moveTo>
                    <a:pt x="0" y="0"/>
                  </a:moveTo>
                  <a:lnTo>
                    <a:pt x="11819732" y="0"/>
                  </a:lnTo>
                  <a:lnTo>
                    <a:pt x="11819732" y="591740"/>
                  </a:lnTo>
                  <a:lnTo>
                    <a:pt x="0" y="591740"/>
                  </a:lnTo>
                  <a:close/>
                </a:path>
              </a:pathLst>
            </a:custGeom>
            <a:solidFill>
              <a:srgbClr val="000000">
                <a:alpha val="0"/>
              </a:srgbClr>
            </a:solidFill>
          </p:spPr>
        </p:sp>
        <p:sp>
          <p:nvSpPr>
            <p:cNvPr id="17" name="TextBox 17"/>
            <p:cNvSpPr txBox="1"/>
            <p:nvPr/>
          </p:nvSpPr>
          <p:spPr>
            <a:xfrm>
              <a:off x="0" y="-95250"/>
              <a:ext cx="11819732" cy="686990"/>
            </a:xfrm>
            <a:prstGeom prst="rect">
              <a:avLst/>
            </a:prstGeom>
          </p:spPr>
          <p:txBody>
            <a:bodyPr lIns="0" tIns="0" rIns="0" bIns="0" rtlCol="0" anchor="t"/>
            <a:lstStyle/>
            <a:p>
              <a:pPr algn="l">
                <a:lnSpc>
                  <a:spcPts val="3437"/>
                </a:lnSpc>
              </a:pPr>
              <a:r>
                <a:rPr lang="en-US" sz="2125">
                  <a:solidFill>
                    <a:srgbClr val="4A4A45"/>
                  </a:solidFill>
                  <a:latin typeface="Lato"/>
                  <a:ea typeface="Lato"/>
                  <a:cs typeface="Lato"/>
                  <a:sym typeface="Lato"/>
                </a:rPr>
                <a:t>Admins securely log in to the dashboard with role-based permissions.</a:t>
              </a:r>
            </a:p>
          </p:txBody>
        </p:sp>
      </p:grpSp>
      <p:grpSp>
        <p:nvGrpSpPr>
          <p:cNvPr id="18" name="Group 18"/>
          <p:cNvGrpSpPr/>
          <p:nvPr/>
        </p:nvGrpSpPr>
        <p:grpSpPr>
          <a:xfrm>
            <a:off x="8244631" y="4232821"/>
            <a:ext cx="207913" cy="1487389"/>
            <a:chOff x="0" y="0"/>
            <a:chExt cx="277217" cy="1983185"/>
          </a:xfrm>
        </p:grpSpPr>
        <p:sp>
          <p:nvSpPr>
            <p:cNvPr id="19" name="Freeform 19"/>
            <p:cNvSpPr/>
            <p:nvPr/>
          </p:nvSpPr>
          <p:spPr>
            <a:xfrm>
              <a:off x="0" y="0"/>
              <a:ext cx="277241" cy="1983232"/>
            </a:xfrm>
            <a:custGeom>
              <a:avLst/>
              <a:gdLst/>
              <a:ahLst/>
              <a:cxnLst/>
              <a:rect l="l" t="t" r="r" b="b"/>
              <a:pathLst>
                <a:path w="277241" h="1983232">
                  <a:moveTo>
                    <a:pt x="0" y="55499"/>
                  </a:moveTo>
                  <a:cubicBezTo>
                    <a:pt x="0" y="24892"/>
                    <a:pt x="24892" y="0"/>
                    <a:pt x="55499" y="0"/>
                  </a:cubicBezTo>
                  <a:lnTo>
                    <a:pt x="221742" y="0"/>
                  </a:lnTo>
                  <a:cubicBezTo>
                    <a:pt x="252349" y="0"/>
                    <a:pt x="277241" y="24892"/>
                    <a:pt x="277241" y="55499"/>
                  </a:cubicBezTo>
                  <a:lnTo>
                    <a:pt x="277241" y="1927733"/>
                  </a:lnTo>
                  <a:cubicBezTo>
                    <a:pt x="277241" y="1958340"/>
                    <a:pt x="252349" y="1983232"/>
                    <a:pt x="221742" y="1983232"/>
                  </a:cubicBezTo>
                  <a:lnTo>
                    <a:pt x="55499" y="1983232"/>
                  </a:lnTo>
                  <a:cubicBezTo>
                    <a:pt x="24892" y="1983232"/>
                    <a:pt x="0" y="1958340"/>
                    <a:pt x="0" y="1927733"/>
                  </a:cubicBezTo>
                  <a:close/>
                </a:path>
              </a:pathLst>
            </a:custGeom>
            <a:solidFill>
              <a:srgbClr val="E5DFD2"/>
            </a:solidFill>
          </p:spPr>
        </p:sp>
      </p:grpSp>
      <p:grpSp>
        <p:nvGrpSpPr>
          <p:cNvPr id="20" name="Group 20"/>
          <p:cNvGrpSpPr/>
          <p:nvPr/>
        </p:nvGrpSpPr>
        <p:grpSpPr>
          <a:xfrm>
            <a:off x="8868519" y="4232821"/>
            <a:ext cx="3467100" cy="433388"/>
            <a:chOff x="0" y="0"/>
            <a:chExt cx="4622800" cy="577850"/>
          </a:xfrm>
        </p:grpSpPr>
        <p:sp>
          <p:nvSpPr>
            <p:cNvPr id="21" name="Freeform 21"/>
            <p:cNvSpPr/>
            <p:nvPr/>
          </p:nvSpPr>
          <p:spPr>
            <a:xfrm>
              <a:off x="0" y="0"/>
              <a:ext cx="4622800" cy="577850"/>
            </a:xfrm>
            <a:custGeom>
              <a:avLst/>
              <a:gdLst/>
              <a:ahLst/>
              <a:cxnLst/>
              <a:rect l="l" t="t" r="r" b="b"/>
              <a:pathLst>
                <a:path w="4622800" h="577850">
                  <a:moveTo>
                    <a:pt x="0" y="0"/>
                  </a:moveTo>
                  <a:lnTo>
                    <a:pt x="4622800" y="0"/>
                  </a:lnTo>
                  <a:lnTo>
                    <a:pt x="4622800" y="577850"/>
                  </a:lnTo>
                  <a:lnTo>
                    <a:pt x="0" y="577850"/>
                  </a:lnTo>
                  <a:close/>
                </a:path>
              </a:pathLst>
            </a:custGeom>
            <a:solidFill>
              <a:srgbClr val="000000">
                <a:alpha val="0"/>
              </a:srgbClr>
            </a:solidFill>
          </p:spPr>
        </p:sp>
        <p:sp>
          <p:nvSpPr>
            <p:cNvPr id="22" name="TextBox 22"/>
            <p:cNvSpPr txBox="1"/>
            <p:nvPr/>
          </p:nvSpPr>
          <p:spPr>
            <a:xfrm>
              <a:off x="0" y="-19050"/>
              <a:ext cx="4622800" cy="596900"/>
            </a:xfrm>
            <a:prstGeom prst="rect">
              <a:avLst/>
            </a:prstGeom>
          </p:spPr>
          <p:txBody>
            <a:bodyPr lIns="0" tIns="0" rIns="0" bIns="0" rtlCol="0" anchor="t"/>
            <a:lstStyle/>
            <a:p>
              <a:pPr algn="l">
                <a:lnSpc>
                  <a:spcPts val="3374"/>
                </a:lnSpc>
              </a:pPr>
              <a:r>
                <a:rPr lang="en-US" sz="2687" b="1">
                  <a:solidFill>
                    <a:srgbClr val="4A4A45"/>
                  </a:solidFill>
                  <a:latin typeface="Lato Bold"/>
                  <a:ea typeface="Lato Bold"/>
                  <a:cs typeface="Lato Bold"/>
                  <a:sym typeface="Lato Bold"/>
                </a:rPr>
                <a:t>Manage Projects</a:t>
              </a:r>
            </a:p>
          </p:txBody>
        </p:sp>
      </p:grpSp>
      <p:grpSp>
        <p:nvGrpSpPr>
          <p:cNvPr id="23" name="Group 23"/>
          <p:cNvGrpSpPr/>
          <p:nvPr/>
        </p:nvGrpSpPr>
        <p:grpSpPr>
          <a:xfrm>
            <a:off x="8868519" y="4832597"/>
            <a:ext cx="8448824" cy="887611"/>
            <a:chOff x="0" y="0"/>
            <a:chExt cx="11265098" cy="1183482"/>
          </a:xfrm>
        </p:grpSpPr>
        <p:sp>
          <p:nvSpPr>
            <p:cNvPr id="24" name="Freeform 24"/>
            <p:cNvSpPr/>
            <p:nvPr/>
          </p:nvSpPr>
          <p:spPr>
            <a:xfrm>
              <a:off x="0" y="0"/>
              <a:ext cx="11265098" cy="1183482"/>
            </a:xfrm>
            <a:custGeom>
              <a:avLst/>
              <a:gdLst/>
              <a:ahLst/>
              <a:cxnLst/>
              <a:rect l="l" t="t" r="r" b="b"/>
              <a:pathLst>
                <a:path w="11265098" h="1183482">
                  <a:moveTo>
                    <a:pt x="0" y="0"/>
                  </a:moveTo>
                  <a:lnTo>
                    <a:pt x="11265098" y="0"/>
                  </a:lnTo>
                  <a:lnTo>
                    <a:pt x="11265098" y="1183482"/>
                  </a:lnTo>
                  <a:lnTo>
                    <a:pt x="0" y="1183482"/>
                  </a:lnTo>
                  <a:close/>
                </a:path>
              </a:pathLst>
            </a:custGeom>
            <a:solidFill>
              <a:srgbClr val="000000">
                <a:alpha val="0"/>
              </a:srgbClr>
            </a:solidFill>
          </p:spPr>
        </p:sp>
        <p:sp>
          <p:nvSpPr>
            <p:cNvPr id="25" name="TextBox 25"/>
            <p:cNvSpPr txBox="1"/>
            <p:nvPr/>
          </p:nvSpPr>
          <p:spPr>
            <a:xfrm>
              <a:off x="0" y="-95250"/>
              <a:ext cx="11265098" cy="1278732"/>
            </a:xfrm>
            <a:prstGeom prst="rect">
              <a:avLst/>
            </a:prstGeom>
          </p:spPr>
          <p:txBody>
            <a:bodyPr lIns="0" tIns="0" rIns="0" bIns="0" rtlCol="0" anchor="t"/>
            <a:lstStyle/>
            <a:p>
              <a:pPr algn="l">
                <a:lnSpc>
                  <a:spcPts val="3437"/>
                </a:lnSpc>
              </a:pPr>
              <a:r>
                <a:rPr lang="en-US" sz="2125">
                  <a:solidFill>
                    <a:srgbClr val="4A4A45"/>
                  </a:solidFill>
                  <a:latin typeface="Lato"/>
                  <a:ea typeface="Lato"/>
                  <a:cs typeface="Lato"/>
                  <a:sym typeface="Lato"/>
                </a:rPr>
                <a:t>Create, update, and track project progress visually using integrated tools.</a:t>
              </a:r>
            </a:p>
          </p:txBody>
        </p:sp>
      </p:grpSp>
      <p:grpSp>
        <p:nvGrpSpPr>
          <p:cNvPr id="26" name="Group 26"/>
          <p:cNvGrpSpPr/>
          <p:nvPr/>
        </p:nvGrpSpPr>
        <p:grpSpPr>
          <a:xfrm>
            <a:off x="8660755" y="5997476"/>
            <a:ext cx="207913" cy="1487389"/>
            <a:chOff x="0" y="0"/>
            <a:chExt cx="277217" cy="1983185"/>
          </a:xfrm>
        </p:grpSpPr>
        <p:sp>
          <p:nvSpPr>
            <p:cNvPr id="27" name="Freeform 27"/>
            <p:cNvSpPr/>
            <p:nvPr/>
          </p:nvSpPr>
          <p:spPr>
            <a:xfrm>
              <a:off x="0" y="0"/>
              <a:ext cx="277241" cy="1983232"/>
            </a:xfrm>
            <a:custGeom>
              <a:avLst/>
              <a:gdLst/>
              <a:ahLst/>
              <a:cxnLst/>
              <a:rect l="l" t="t" r="r" b="b"/>
              <a:pathLst>
                <a:path w="277241" h="1983232">
                  <a:moveTo>
                    <a:pt x="0" y="55499"/>
                  </a:moveTo>
                  <a:cubicBezTo>
                    <a:pt x="0" y="24892"/>
                    <a:pt x="24892" y="0"/>
                    <a:pt x="55499" y="0"/>
                  </a:cubicBezTo>
                  <a:lnTo>
                    <a:pt x="221742" y="0"/>
                  </a:lnTo>
                  <a:cubicBezTo>
                    <a:pt x="252349" y="0"/>
                    <a:pt x="277241" y="24892"/>
                    <a:pt x="277241" y="55499"/>
                  </a:cubicBezTo>
                  <a:lnTo>
                    <a:pt x="277241" y="1927733"/>
                  </a:lnTo>
                  <a:cubicBezTo>
                    <a:pt x="277241" y="1958340"/>
                    <a:pt x="252349" y="1983232"/>
                    <a:pt x="221742" y="1983232"/>
                  </a:cubicBezTo>
                  <a:lnTo>
                    <a:pt x="55499" y="1983232"/>
                  </a:lnTo>
                  <a:cubicBezTo>
                    <a:pt x="24892" y="1983232"/>
                    <a:pt x="0" y="1958340"/>
                    <a:pt x="0" y="1927733"/>
                  </a:cubicBezTo>
                  <a:close/>
                </a:path>
              </a:pathLst>
            </a:custGeom>
            <a:solidFill>
              <a:srgbClr val="E5DFD2"/>
            </a:solidFill>
          </p:spPr>
        </p:sp>
      </p:grpSp>
      <p:grpSp>
        <p:nvGrpSpPr>
          <p:cNvPr id="28" name="Group 28"/>
          <p:cNvGrpSpPr/>
          <p:nvPr/>
        </p:nvGrpSpPr>
        <p:grpSpPr>
          <a:xfrm>
            <a:off x="9284642" y="5997476"/>
            <a:ext cx="3467100" cy="433388"/>
            <a:chOff x="0" y="0"/>
            <a:chExt cx="4622800" cy="577850"/>
          </a:xfrm>
        </p:grpSpPr>
        <p:sp>
          <p:nvSpPr>
            <p:cNvPr id="29" name="Freeform 29"/>
            <p:cNvSpPr/>
            <p:nvPr/>
          </p:nvSpPr>
          <p:spPr>
            <a:xfrm>
              <a:off x="0" y="0"/>
              <a:ext cx="4622800" cy="577850"/>
            </a:xfrm>
            <a:custGeom>
              <a:avLst/>
              <a:gdLst/>
              <a:ahLst/>
              <a:cxnLst/>
              <a:rect l="l" t="t" r="r" b="b"/>
              <a:pathLst>
                <a:path w="4622800" h="577850">
                  <a:moveTo>
                    <a:pt x="0" y="0"/>
                  </a:moveTo>
                  <a:lnTo>
                    <a:pt x="4622800" y="0"/>
                  </a:lnTo>
                  <a:lnTo>
                    <a:pt x="4622800" y="577850"/>
                  </a:lnTo>
                  <a:lnTo>
                    <a:pt x="0" y="577850"/>
                  </a:lnTo>
                  <a:close/>
                </a:path>
              </a:pathLst>
            </a:custGeom>
            <a:solidFill>
              <a:srgbClr val="000000">
                <a:alpha val="0"/>
              </a:srgbClr>
            </a:solidFill>
          </p:spPr>
        </p:sp>
        <p:sp>
          <p:nvSpPr>
            <p:cNvPr id="30" name="TextBox 30"/>
            <p:cNvSpPr txBox="1"/>
            <p:nvPr/>
          </p:nvSpPr>
          <p:spPr>
            <a:xfrm>
              <a:off x="0" y="-19050"/>
              <a:ext cx="4622800" cy="596900"/>
            </a:xfrm>
            <a:prstGeom prst="rect">
              <a:avLst/>
            </a:prstGeom>
          </p:spPr>
          <p:txBody>
            <a:bodyPr lIns="0" tIns="0" rIns="0" bIns="0" rtlCol="0" anchor="t"/>
            <a:lstStyle/>
            <a:p>
              <a:pPr algn="l">
                <a:lnSpc>
                  <a:spcPts val="3374"/>
                </a:lnSpc>
              </a:pPr>
              <a:r>
                <a:rPr lang="en-US" sz="2687" b="1">
                  <a:solidFill>
                    <a:srgbClr val="4A4A45"/>
                  </a:solidFill>
                  <a:latin typeface="Lato Bold"/>
                  <a:ea typeface="Lato Bold"/>
                  <a:cs typeface="Lato Bold"/>
                  <a:sym typeface="Lato Bold"/>
                </a:rPr>
                <a:t>Update Content</a:t>
              </a:r>
            </a:p>
          </p:txBody>
        </p:sp>
      </p:grpSp>
      <p:grpSp>
        <p:nvGrpSpPr>
          <p:cNvPr id="31" name="Group 31"/>
          <p:cNvGrpSpPr/>
          <p:nvPr/>
        </p:nvGrpSpPr>
        <p:grpSpPr>
          <a:xfrm>
            <a:off x="9284642" y="6597254"/>
            <a:ext cx="8032700" cy="887611"/>
            <a:chOff x="0" y="0"/>
            <a:chExt cx="10710267" cy="1183482"/>
          </a:xfrm>
        </p:grpSpPr>
        <p:sp>
          <p:nvSpPr>
            <p:cNvPr id="32" name="Freeform 32"/>
            <p:cNvSpPr/>
            <p:nvPr/>
          </p:nvSpPr>
          <p:spPr>
            <a:xfrm>
              <a:off x="0" y="0"/>
              <a:ext cx="10710266" cy="1183482"/>
            </a:xfrm>
            <a:custGeom>
              <a:avLst/>
              <a:gdLst/>
              <a:ahLst/>
              <a:cxnLst/>
              <a:rect l="l" t="t" r="r" b="b"/>
              <a:pathLst>
                <a:path w="10710266" h="1183482">
                  <a:moveTo>
                    <a:pt x="0" y="0"/>
                  </a:moveTo>
                  <a:lnTo>
                    <a:pt x="10710266" y="0"/>
                  </a:lnTo>
                  <a:lnTo>
                    <a:pt x="10710266" y="1183482"/>
                  </a:lnTo>
                  <a:lnTo>
                    <a:pt x="0" y="1183482"/>
                  </a:lnTo>
                  <a:close/>
                </a:path>
              </a:pathLst>
            </a:custGeom>
            <a:solidFill>
              <a:srgbClr val="000000">
                <a:alpha val="0"/>
              </a:srgbClr>
            </a:solidFill>
          </p:spPr>
        </p:sp>
        <p:sp>
          <p:nvSpPr>
            <p:cNvPr id="33" name="TextBox 33"/>
            <p:cNvSpPr txBox="1"/>
            <p:nvPr/>
          </p:nvSpPr>
          <p:spPr>
            <a:xfrm>
              <a:off x="0" y="-95250"/>
              <a:ext cx="10710267" cy="1278732"/>
            </a:xfrm>
            <a:prstGeom prst="rect">
              <a:avLst/>
            </a:prstGeom>
          </p:spPr>
          <p:txBody>
            <a:bodyPr lIns="0" tIns="0" rIns="0" bIns="0" rtlCol="0" anchor="t"/>
            <a:lstStyle/>
            <a:p>
              <a:pPr algn="l">
                <a:lnSpc>
                  <a:spcPts val="3437"/>
                </a:lnSpc>
              </a:pPr>
              <a:r>
                <a:rPr lang="en-US" sz="2125">
                  <a:solidFill>
                    <a:srgbClr val="4A4A45"/>
                  </a:solidFill>
                  <a:latin typeface="Lato"/>
                  <a:ea typeface="Lato"/>
                  <a:cs typeface="Lato"/>
                  <a:sym typeface="Lato"/>
                </a:rPr>
                <a:t>Publish new blogs, moderate testimonials, and refresh images from one interface.</a:t>
              </a:r>
            </a:p>
          </p:txBody>
        </p:sp>
      </p:grpSp>
      <p:grpSp>
        <p:nvGrpSpPr>
          <p:cNvPr id="34" name="Group 34"/>
          <p:cNvGrpSpPr/>
          <p:nvPr/>
        </p:nvGrpSpPr>
        <p:grpSpPr>
          <a:xfrm>
            <a:off x="9076730" y="7762131"/>
            <a:ext cx="207913" cy="1487389"/>
            <a:chOff x="0" y="0"/>
            <a:chExt cx="277217" cy="1983185"/>
          </a:xfrm>
        </p:grpSpPr>
        <p:sp>
          <p:nvSpPr>
            <p:cNvPr id="35" name="Freeform 35"/>
            <p:cNvSpPr/>
            <p:nvPr/>
          </p:nvSpPr>
          <p:spPr>
            <a:xfrm>
              <a:off x="0" y="0"/>
              <a:ext cx="277241" cy="1983232"/>
            </a:xfrm>
            <a:custGeom>
              <a:avLst/>
              <a:gdLst/>
              <a:ahLst/>
              <a:cxnLst/>
              <a:rect l="l" t="t" r="r" b="b"/>
              <a:pathLst>
                <a:path w="277241" h="1983232">
                  <a:moveTo>
                    <a:pt x="0" y="55499"/>
                  </a:moveTo>
                  <a:cubicBezTo>
                    <a:pt x="0" y="24892"/>
                    <a:pt x="24892" y="0"/>
                    <a:pt x="55499" y="0"/>
                  </a:cubicBezTo>
                  <a:lnTo>
                    <a:pt x="221742" y="0"/>
                  </a:lnTo>
                  <a:cubicBezTo>
                    <a:pt x="252349" y="0"/>
                    <a:pt x="277241" y="24892"/>
                    <a:pt x="277241" y="55499"/>
                  </a:cubicBezTo>
                  <a:lnTo>
                    <a:pt x="277241" y="1927733"/>
                  </a:lnTo>
                  <a:cubicBezTo>
                    <a:pt x="277241" y="1958340"/>
                    <a:pt x="252349" y="1983232"/>
                    <a:pt x="221742" y="1983232"/>
                  </a:cubicBezTo>
                  <a:lnTo>
                    <a:pt x="55499" y="1983232"/>
                  </a:lnTo>
                  <a:cubicBezTo>
                    <a:pt x="24892" y="1983232"/>
                    <a:pt x="0" y="1958340"/>
                    <a:pt x="0" y="1927733"/>
                  </a:cubicBezTo>
                  <a:close/>
                </a:path>
              </a:pathLst>
            </a:custGeom>
            <a:solidFill>
              <a:srgbClr val="E5DFD2"/>
            </a:solidFill>
          </p:spPr>
        </p:sp>
      </p:grpSp>
      <p:grpSp>
        <p:nvGrpSpPr>
          <p:cNvPr id="36" name="Group 36"/>
          <p:cNvGrpSpPr/>
          <p:nvPr/>
        </p:nvGrpSpPr>
        <p:grpSpPr>
          <a:xfrm>
            <a:off x="9700617" y="7762131"/>
            <a:ext cx="3467100" cy="433388"/>
            <a:chOff x="0" y="0"/>
            <a:chExt cx="4622800" cy="577850"/>
          </a:xfrm>
        </p:grpSpPr>
        <p:sp>
          <p:nvSpPr>
            <p:cNvPr id="37" name="Freeform 37"/>
            <p:cNvSpPr/>
            <p:nvPr/>
          </p:nvSpPr>
          <p:spPr>
            <a:xfrm>
              <a:off x="0" y="0"/>
              <a:ext cx="4622800" cy="577850"/>
            </a:xfrm>
            <a:custGeom>
              <a:avLst/>
              <a:gdLst/>
              <a:ahLst/>
              <a:cxnLst/>
              <a:rect l="l" t="t" r="r" b="b"/>
              <a:pathLst>
                <a:path w="4622800" h="577850">
                  <a:moveTo>
                    <a:pt x="0" y="0"/>
                  </a:moveTo>
                  <a:lnTo>
                    <a:pt x="4622800" y="0"/>
                  </a:lnTo>
                  <a:lnTo>
                    <a:pt x="4622800" y="577850"/>
                  </a:lnTo>
                  <a:lnTo>
                    <a:pt x="0" y="577850"/>
                  </a:lnTo>
                  <a:close/>
                </a:path>
              </a:pathLst>
            </a:custGeom>
            <a:solidFill>
              <a:srgbClr val="000000">
                <a:alpha val="0"/>
              </a:srgbClr>
            </a:solidFill>
          </p:spPr>
        </p:sp>
        <p:sp>
          <p:nvSpPr>
            <p:cNvPr id="38" name="TextBox 38"/>
            <p:cNvSpPr txBox="1"/>
            <p:nvPr/>
          </p:nvSpPr>
          <p:spPr>
            <a:xfrm>
              <a:off x="0" y="-19050"/>
              <a:ext cx="4622800" cy="596900"/>
            </a:xfrm>
            <a:prstGeom prst="rect">
              <a:avLst/>
            </a:prstGeom>
          </p:spPr>
          <p:txBody>
            <a:bodyPr lIns="0" tIns="0" rIns="0" bIns="0" rtlCol="0" anchor="t"/>
            <a:lstStyle/>
            <a:p>
              <a:pPr algn="l">
                <a:lnSpc>
                  <a:spcPts val="3374"/>
                </a:lnSpc>
              </a:pPr>
              <a:r>
                <a:rPr lang="en-US" sz="2687" b="1">
                  <a:solidFill>
                    <a:srgbClr val="4A4A45"/>
                  </a:solidFill>
                  <a:latin typeface="Lato Bold"/>
                  <a:ea typeface="Lato Bold"/>
                  <a:cs typeface="Lato Bold"/>
                  <a:sym typeface="Lato Bold"/>
                </a:rPr>
                <a:t>Live Preview</a:t>
              </a:r>
            </a:p>
          </p:txBody>
        </p:sp>
      </p:grpSp>
      <p:grpSp>
        <p:nvGrpSpPr>
          <p:cNvPr id="39" name="Group 39"/>
          <p:cNvGrpSpPr/>
          <p:nvPr/>
        </p:nvGrpSpPr>
        <p:grpSpPr>
          <a:xfrm>
            <a:off x="9700617" y="8361909"/>
            <a:ext cx="7616726" cy="887611"/>
            <a:chOff x="0" y="0"/>
            <a:chExt cx="10155635" cy="1183482"/>
          </a:xfrm>
        </p:grpSpPr>
        <p:sp>
          <p:nvSpPr>
            <p:cNvPr id="40" name="Freeform 40"/>
            <p:cNvSpPr/>
            <p:nvPr/>
          </p:nvSpPr>
          <p:spPr>
            <a:xfrm>
              <a:off x="0" y="0"/>
              <a:ext cx="10155635" cy="1183482"/>
            </a:xfrm>
            <a:custGeom>
              <a:avLst/>
              <a:gdLst/>
              <a:ahLst/>
              <a:cxnLst/>
              <a:rect l="l" t="t" r="r" b="b"/>
              <a:pathLst>
                <a:path w="10155635" h="1183482">
                  <a:moveTo>
                    <a:pt x="0" y="0"/>
                  </a:moveTo>
                  <a:lnTo>
                    <a:pt x="10155635" y="0"/>
                  </a:lnTo>
                  <a:lnTo>
                    <a:pt x="10155635" y="1183482"/>
                  </a:lnTo>
                  <a:lnTo>
                    <a:pt x="0" y="1183482"/>
                  </a:lnTo>
                  <a:close/>
                </a:path>
              </a:pathLst>
            </a:custGeom>
            <a:solidFill>
              <a:srgbClr val="000000">
                <a:alpha val="0"/>
              </a:srgbClr>
            </a:solidFill>
          </p:spPr>
        </p:sp>
        <p:sp>
          <p:nvSpPr>
            <p:cNvPr id="41" name="TextBox 41"/>
            <p:cNvSpPr txBox="1"/>
            <p:nvPr/>
          </p:nvSpPr>
          <p:spPr>
            <a:xfrm>
              <a:off x="0" y="-95250"/>
              <a:ext cx="10155635" cy="1278732"/>
            </a:xfrm>
            <a:prstGeom prst="rect">
              <a:avLst/>
            </a:prstGeom>
          </p:spPr>
          <p:txBody>
            <a:bodyPr lIns="0" tIns="0" rIns="0" bIns="0" rtlCol="0" anchor="t"/>
            <a:lstStyle/>
            <a:p>
              <a:pPr algn="l">
                <a:lnSpc>
                  <a:spcPts val="3437"/>
                </a:lnSpc>
              </a:pPr>
              <a:r>
                <a:rPr lang="en-US" sz="2125">
                  <a:solidFill>
                    <a:srgbClr val="4A4A45"/>
                  </a:solidFill>
                  <a:latin typeface="Lato"/>
                  <a:ea typeface="Lato"/>
                  <a:cs typeface="Lato"/>
                  <a:sym typeface="Lato"/>
                </a:rPr>
                <a:t>Immediately see changes reflected on the live frontend website for instant validation.</a:t>
              </a:r>
            </a:p>
          </p:txBody>
        </p:sp>
      </p:gr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DDD6CC"/>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FECE6"/>
            </a:solidFill>
          </p:spPr>
        </p:sp>
      </p:grpSp>
      <p:sp>
        <p:nvSpPr>
          <p:cNvPr id="6" name="Freeform 6" descr="preencoded.png"/>
          <p:cNvSpPr/>
          <p:nvPr/>
        </p:nvSpPr>
        <p:spPr>
          <a:xfrm>
            <a:off x="0" y="0"/>
            <a:ext cx="6858000" cy="10287000"/>
          </a:xfrm>
          <a:custGeom>
            <a:avLst/>
            <a:gdLst/>
            <a:ahLst/>
            <a:cxnLst/>
            <a:rect l="l" t="t" r="r" b="b"/>
            <a:pathLst>
              <a:path w="6858000" h="10287000">
                <a:moveTo>
                  <a:pt x="0" y="0"/>
                </a:moveTo>
                <a:lnTo>
                  <a:pt x="6858000" y="0"/>
                </a:lnTo>
                <a:lnTo>
                  <a:pt x="6858000" y="10287000"/>
                </a:lnTo>
                <a:lnTo>
                  <a:pt x="0" y="10287000"/>
                </a:lnTo>
                <a:lnTo>
                  <a:pt x="0" y="0"/>
                </a:lnTo>
                <a:close/>
              </a:path>
            </a:pathLst>
          </a:custGeom>
          <a:blipFill>
            <a:blip r:embed="rId3"/>
            <a:stretch>
              <a:fillRect/>
            </a:stretch>
          </a:blipFill>
        </p:spPr>
      </p:sp>
      <p:grpSp>
        <p:nvGrpSpPr>
          <p:cNvPr id="7" name="Group 7"/>
          <p:cNvGrpSpPr/>
          <p:nvPr/>
        </p:nvGrpSpPr>
        <p:grpSpPr>
          <a:xfrm>
            <a:off x="7720012" y="1231106"/>
            <a:ext cx="9705975" cy="1539180"/>
            <a:chOff x="0" y="0"/>
            <a:chExt cx="12941300" cy="2052240"/>
          </a:xfrm>
        </p:grpSpPr>
        <p:sp>
          <p:nvSpPr>
            <p:cNvPr id="8" name="Freeform 8"/>
            <p:cNvSpPr/>
            <p:nvPr/>
          </p:nvSpPr>
          <p:spPr>
            <a:xfrm>
              <a:off x="0" y="0"/>
              <a:ext cx="12941300" cy="2052240"/>
            </a:xfrm>
            <a:custGeom>
              <a:avLst/>
              <a:gdLst/>
              <a:ahLst/>
              <a:cxnLst/>
              <a:rect l="l" t="t" r="r" b="b"/>
              <a:pathLst>
                <a:path w="12941300" h="2052240">
                  <a:moveTo>
                    <a:pt x="0" y="0"/>
                  </a:moveTo>
                  <a:lnTo>
                    <a:pt x="12941300" y="0"/>
                  </a:lnTo>
                  <a:lnTo>
                    <a:pt x="12941300" y="2052240"/>
                  </a:lnTo>
                  <a:lnTo>
                    <a:pt x="0" y="2052240"/>
                  </a:lnTo>
                  <a:close/>
                </a:path>
              </a:pathLst>
            </a:custGeom>
            <a:solidFill>
              <a:srgbClr val="000000">
                <a:alpha val="0"/>
              </a:srgbClr>
            </a:solidFill>
          </p:spPr>
        </p:sp>
        <p:sp>
          <p:nvSpPr>
            <p:cNvPr id="9" name="TextBox 9"/>
            <p:cNvSpPr txBox="1"/>
            <p:nvPr/>
          </p:nvSpPr>
          <p:spPr>
            <a:xfrm>
              <a:off x="0" y="-28575"/>
              <a:ext cx="12941300" cy="2080815"/>
            </a:xfrm>
            <a:prstGeom prst="rect">
              <a:avLst/>
            </a:prstGeom>
          </p:spPr>
          <p:txBody>
            <a:bodyPr lIns="0" tIns="0" rIns="0" bIns="0" rtlCol="0" anchor="t"/>
            <a:lstStyle/>
            <a:p>
              <a:pPr algn="l">
                <a:lnSpc>
                  <a:spcPts val="6000"/>
                </a:lnSpc>
              </a:pPr>
              <a:r>
                <a:rPr lang="en-US" sz="4812" b="1">
                  <a:solidFill>
                    <a:srgbClr val="282824"/>
                  </a:solidFill>
                  <a:latin typeface="Lato Bold"/>
                  <a:ea typeface="Lato Bold"/>
                  <a:cs typeface="Lato Bold"/>
                  <a:sym typeface="Lato Bold"/>
                </a:rPr>
                <a:t>Benefits: Streamlined Operations &amp; Improved Online Presence</a:t>
              </a:r>
            </a:p>
          </p:txBody>
        </p:sp>
      </p:grpSp>
      <p:grpSp>
        <p:nvGrpSpPr>
          <p:cNvPr id="10" name="Group 10"/>
          <p:cNvGrpSpPr/>
          <p:nvPr/>
        </p:nvGrpSpPr>
        <p:grpSpPr>
          <a:xfrm>
            <a:off x="7720012" y="3139677"/>
            <a:ext cx="554087" cy="554088"/>
            <a:chOff x="0" y="0"/>
            <a:chExt cx="738783" cy="738783"/>
          </a:xfrm>
        </p:grpSpPr>
        <p:sp>
          <p:nvSpPr>
            <p:cNvPr id="11" name="Freeform 11"/>
            <p:cNvSpPr/>
            <p:nvPr/>
          </p:nvSpPr>
          <p:spPr>
            <a:xfrm>
              <a:off x="0" y="0"/>
              <a:ext cx="738759" cy="738759"/>
            </a:xfrm>
            <a:custGeom>
              <a:avLst/>
              <a:gdLst/>
              <a:ahLst/>
              <a:cxnLst/>
              <a:rect l="l" t="t" r="r" b="b"/>
              <a:pathLst>
                <a:path w="738759" h="738759">
                  <a:moveTo>
                    <a:pt x="0" y="49276"/>
                  </a:moveTo>
                  <a:cubicBezTo>
                    <a:pt x="0" y="22098"/>
                    <a:pt x="22098" y="0"/>
                    <a:pt x="49276" y="0"/>
                  </a:cubicBezTo>
                  <a:lnTo>
                    <a:pt x="689483" y="0"/>
                  </a:lnTo>
                  <a:cubicBezTo>
                    <a:pt x="716661" y="0"/>
                    <a:pt x="738759" y="22098"/>
                    <a:pt x="738759" y="49276"/>
                  </a:cubicBezTo>
                  <a:lnTo>
                    <a:pt x="738759" y="689483"/>
                  </a:lnTo>
                  <a:cubicBezTo>
                    <a:pt x="738759" y="716661"/>
                    <a:pt x="716661" y="738759"/>
                    <a:pt x="689483" y="738759"/>
                  </a:cubicBezTo>
                  <a:lnTo>
                    <a:pt x="49276" y="738759"/>
                  </a:lnTo>
                  <a:cubicBezTo>
                    <a:pt x="22098" y="738759"/>
                    <a:pt x="0" y="716788"/>
                    <a:pt x="0" y="689483"/>
                  </a:cubicBezTo>
                  <a:close/>
                </a:path>
              </a:pathLst>
            </a:custGeom>
            <a:solidFill>
              <a:srgbClr val="E5DFD2"/>
            </a:solidFill>
          </p:spPr>
        </p:sp>
      </p:grpSp>
      <p:grpSp>
        <p:nvGrpSpPr>
          <p:cNvPr id="12" name="Group 12"/>
          <p:cNvGrpSpPr/>
          <p:nvPr/>
        </p:nvGrpSpPr>
        <p:grpSpPr>
          <a:xfrm>
            <a:off x="8520261" y="3224212"/>
            <a:ext cx="3079551" cy="384870"/>
            <a:chOff x="0" y="0"/>
            <a:chExt cx="4106068" cy="513160"/>
          </a:xfrm>
        </p:grpSpPr>
        <p:sp>
          <p:nvSpPr>
            <p:cNvPr id="13" name="Freeform 13"/>
            <p:cNvSpPr/>
            <p:nvPr/>
          </p:nvSpPr>
          <p:spPr>
            <a:xfrm>
              <a:off x="0" y="0"/>
              <a:ext cx="4106068" cy="513160"/>
            </a:xfrm>
            <a:custGeom>
              <a:avLst/>
              <a:gdLst/>
              <a:ahLst/>
              <a:cxnLst/>
              <a:rect l="l" t="t" r="r" b="b"/>
              <a:pathLst>
                <a:path w="4106068" h="513160">
                  <a:moveTo>
                    <a:pt x="0" y="0"/>
                  </a:moveTo>
                  <a:lnTo>
                    <a:pt x="4106068" y="0"/>
                  </a:lnTo>
                  <a:lnTo>
                    <a:pt x="4106068" y="513160"/>
                  </a:lnTo>
                  <a:lnTo>
                    <a:pt x="0" y="513160"/>
                  </a:lnTo>
                  <a:close/>
                </a:path>
              </a:pathLst>
            </a:custGeom>
            <a:solidFill>
              <a:srgbClr val="000000">
                <a:alpha val="0"/>
              </a:srgbClr>
            </a:solidFill>
          </p:spPr>
        </p:sp>
        <p:sp>
          <p:nvSpPr>
            <p:cNvPr id="14" name="TextBox 14"/>
            <p:cNvSpPr txBox="1"/>
            <p:nvPr/>
          </p:nvSpPr>
          <p:spPr>
            <a:xfrm>
              <a:off x="0" y="-19050"/>
              <a:ext cx="4106068" cy="532210"/>
            </a:xfrm>
            <a:prstGeom prst="rect">
              <a:avLst/>
            </a:prstGeom>
          </p:spPr>
          <p:txBody>
            <a:bodyPr lIns="0" tIns="0" rIns="0" bIns="0" rtlCol="0" anchor="t"/>
            <a:lstStyle/>
            <a:p>
              <a:pPr algn="l">
                <a:lnSpc>
                  <a:spcPts val="3000"/>
                </a:lnSpc>
              </a:pPr>
              <a:r>
                <a:rPr lang="en-US" sz="2375" b="1">
                  <a:solidFill>
                    <a:srgbClr val="4A4A45"/>
                  </a:solidFill>
                  <a:latin typeface="Lato Bold"/>
                  <a:ea typeface="Lato Bold"/>
                  <a:cs typeface="Lato Bold"/>
                  <a:sym typeface="Lato Bold"/>
                </a:rPr>
                <a:t>Operational Efficiency</a:t>
              </a:r>
            </a:p>
          </p:txBody>
        </p:sp>
      </p:grpSp>
      <p:grpSp>
        <p:nvGrpSpPr>
          <p:cNvPr id="15" name="Group 15"/>
          <p:cNvGrpSpPr/>
          <p:nvPr/>
        </p:nvGrpSpPr>
        <p:grpSpPr>
          <a:xfrm>
            <a:off x="8520261" y="3756720"/>
            <a:ext cx="8905726" cy="394097"/>
            <a:chOff x="0" y="0"/>
            <a:chExt cx="11874302" cy="525463"/>
          </a:xfrm>
        </p:grpSpPr>
        <p:sp>
          <p:nvSpPr>
            <p:cNvPr id="16" name="Freeform 16"/>
            <p:cNvSpPr/>
            <p:nvPr/>
          </p:nvSpPr>
          <p:spPr>
            <a:xfrm>
              <a:off x="0" y="0"/>
              <a:ext cx="11874302" cy="525463"/>
            </a:xfrm>
            <a:custGeom>
              <a:avLst/>
              <a:gdLst/>
              <a:ahLst/>
              <a:cxnLst/>
              <a:rect l="l" t="t" r="r" b="b"/>
              <a:pathLst>
                <a:path w="11874302" h="525463">
                  <a:moveTo>
                    <a:pt x="0" y="0"/>
                  </a:moveTo>
                  <a:lnTo>
                    <a:pt x="11874302" y="0"/>
                  </a:lnTo>
                  <a:lnTo>
                    <a:pt x="11874302" y="525463"/>
                  </a:lnTo>
                  <a:lnTo>
                    <a:pt x="0" y="525463"/>
                  </a:lnTo>
                  <a:close/>
                </a:path>
              </a:pathLst>
            </a:custGeom>
            <a:solidFill>
              <a:srgbClr val="000000">
                <a:alpha val="0"/>
              </a:srgbClr>
            </a:solidFill>
          </p:spPr>
        </p:sp>
        <p:sp>
          <p:nvSpPr>
            <p:cNvPr id="17" name="TextBox 17"/>
            <p:cNvSpPr txBox="1"/>
            <p:nvPr/>
          </p:nvSpPr>
          <p:spPr>
            <a:xfrm>
              <a:off x="0" y="-66675"/>
              <a:ext cx="11874302" cy="592138"/>
            </a:xfrm>
            <a:prstGeom prst="rect">
              <a:avLst/>
            </a:prstGeom>
          </p:spPr>
          <p:txBody>
            <a:bodyPr lIns="0" tIns="0" rIns="0" bIns="0" rtlCol="0" anchor="t"/>
            <a:lstStyle/>
            <a:p>
              <a:pPr algn="l">
                <a:lnSpc>
                  <a:spcPts val="3062"/>
                </a:lnSpc>
              </a:pPr>
              <a:r>
                <a:rPr lang="en-US" sz="1937">
                  <a:solidFill>
                    <a:srgbClr val="4A4A45"/>
                  </a:solidFill>
                  <a:latin typeface="Lato"/>
                  <a:ea typeface="Lato"/>
                  <a:cs typeface="Lato"/>
                  <a:sym typeface="Lato"/>
                </a:rPr>
                <a:t>Centralized tools reduce manual tasks and errors, saving time and resources.</a:t>
              </a:r>
            </a:p>
          </p:txBody>
        </p:sp>
      </p:grpSp>
      <p:grpSp>
        <p:nvGrpSpPr>
          <p:cNvPr id="18" name="Group 18"/>
          <p:cNvGrpSpPr/>
          <p:nvPr/>
        </p:nvGrpSpPr>
        <p:grpSpPr>
          <a:xfrm>
            <a:off x="7720012" y="4643289"/>
            <a:ext cx="554087" cy="554088"/>
            <a:chOff x="0" y="0"/>
            <a:chExt cx="738783" cy="738783"/>
          </a:xfrm>
        </p:grpSpPr>
        <p:sp>
          <p:nvSpPr>
            <p:cNvPr id="19" name="Freeform 19"/>
            <p:cNvSpPr/>
            <p:nvPr/>
          </p:nvSpPr>
          <p:spPr>
            <a:xfrm>
              <a:off x="0" y="0"/>
              <a:ext cx="738759" cy="738759"/>
            </a:xfrm>
            <a:custGeom>
              <a:avLst/>
              <a:gdLst/>
              <a:ahLst/>
              <a:cxnLst/>
              <a:rect l="l" t="t" r="r" b="b"/>
              <a:pathLst>
                <a:path w="738759" h="738759">
                  <a:moveTo>
                    <a:pt x="0" y="49276"/>
                  </a:moveTo>
                  <a:cubicBezTo>
                    <a:pt x="0" y="22098"/>
                    <a:pt x="22098" y="0"/>
                    <a:pt x="49276" y="0"/>
                  </a:cubicBezTo>
                  <a:lnTo>
                    <a:pt x="689483" y="0"/>
                  </a:lnTo>
                  <a:cubicBezTo>
                    <a:pt x="716661" y="0"/>
                    <a:pt x="738759" y="22098"/>
                    <a:pt x="738759" y="49276"/>
                  </a:cubicBezTo>
                  <a:lnTo>
                    <a:pt x="738759" y="689483"/>
                  </a:lnTo>
                  <a:cubicBezTo>
                    <a:pt x="738759" y="716661"/>
                    <a:pt x="716661" y="738759"/>
                    <a:pt x="689483" y="738759"/>
                  </a:cubicBezTo>
                  <a:lnTo>
                    <a:pt x="49276" y="738759"/>
                  </a:lnTo>
                  <a:cubicBezTo>
                    <a:pt x="22098" y="738759"/>
                    <a:pt x="0" y="716788"/>
                    <a:pt x="0" y="689483"/>
                  </a:cubicBezTo>
                  <a:close/>
                </a:path>
              </a:pathLst>
            </a:custGeom>
            <a:solidFill>
              <a:srgbClr val="E5DFD2"/>
            </a:solidFill>
          </p:spPr>
        </p:sp>
      </p:grpSp>
      <p:grpSp>
        <p:nvGrpSpPr>
          <p:cNvPr id="20" name="Group 20"/>
          <p:cNvGrpSpPr/>
          <p:nvPr/>
        </p:nvGrpSpPr>
        <p:grpSpPr>
          <a:xfrm>
            <a:off x="8520261" y="4727822"/>
            <a:ext cx="3078510" cy="384870"/>
            <a:chOff x="0" y="0"/>
            <a:chExt cx="4104680" cy="513160"/>
          </a:xfrm>
        </p:grpSpPr>
        <p:sp>
          <p:nvSpPr>
            <p:cNvPr id="21" name="Freeform 21"/>
            <p:cNvSpPr/>
            <p:nvPr/>
          </p:nvSpPr>
          <p:spPr>
            <a:xfrm>
              <a:off x="0" y="0"/>
              <a:ext cx="4104680" cy="513160"/>
            </a:xfrm>
            <a:custGeom>
              <a:avLst/>
              <a:gdLst/>
              <a:ahLst/>
              <a:cxnLst/>
              <a:rect l="l" t="t" r="r" b="b"/>
              <a:pathLst>
                <a:path w="4104680" h="513160">
                  <a:moveTo>
                    <a:pt x="0" y="0"/>
                  </a:moveTo>
                  <a:lnTo>
                    <a:pt x="4104680" y="0"/>
                  </a:lnTo>
                  <a:lnTo>
                    <a:pt x="4104680" y="513160"/>
                  </a:lnTo>
                  <a:lnTo>
                    <a:pt x="0" y="513160"/>
                  </a:lnTo>
                  <a:close/>
                </a:path>
              </a:pathLst>
            </a:custGeom>
            <a:solidFill>
              <a:srgbClr val="000000">
                <a:alpha val="0"/>
              </a:srgbClr>
            </a:solidFill>
          </p:spPr>
        </p:sp>
        <p:sp>
          <p:nvSpPr>
            <p:cNvPr id="22" name="TextBox 22"/>
            <p:cNvSpPr txBox="1"/>
            <p:nvPr/>
          </p:nvSpPr>
          <p:spPr>
            <a:xfrm>
              <a:off x="0" y="-19050"/>
              <a:ext cx="4104680" cy="532210"/>
            </a:xfrm>
            <a:prstGeom prst="rect">
              <a:avLst/>
            </a:prstGeom>
          </p:spPr>
          <p:txBody>
            <a:bodyPr lIns="0" tIns="0" rIns="0" bIns="0" rtlCol="0" anchor="t"/>
            <a:lstStyle/>
            <a:p>
              <a:pPr algn="l">
                <a:lnSpc>
                  <a:spcPts val="3000"/>
                </a:lnSpc>
              </a:pPr>
              <a:r>
                <a:rPr lang="en-US" sz="2375" b="1">
                  <a:solidFill>
                    <a:srgbClr val="4A4A45"/>
                  </a:solidFill>
                  <a:latin typeface="Lato Bold"/>
                  <a:ea typeface="Lato Bold"/>
                  <a:cs typeface="Lato Bold"/>
                  <a:sym typeface="Lato Bold"/>
                </a:rPr>
                <a:t>Improved Visibility</a:t>
              </a:r>
            </a:p>
          </p:txBody>
        </p:sp>
      </p:grpSp>
      <p:grpSp>
        <p:nvGrpSpPr>
          <p:cNvPr id="23" name="Group 23"/>
          <p:cNvGrpSpPr/>
          <p:nvPr/>
        </p:nvGrpSpPr>
        <p:grpSpPr>
          <a:xfrm>
            <a:off x="8520261" y="5260330"/>
            <a:ext cx="8905726" cy="788194"/>
            <a:chOff x="0" y="0"/>
            <a:chExt cx="11874302" cy="1050925"/>
          </a:xfrm>
        </p:grpSpPr>
        <p:sp>
          <p:nvSpPr>
            <p:cNvPr id="24" name="Freeform 24"/>
            <p:cNvSpPr/>
            <p:nvPr/>
          </p:nvSpPr>
          <p:spPr>
            <a:xfrm>
              <a:off x="0" y="0"/>
              <a:ext cx="11874302" cy="1050925"/>
            </a:xfrm>
            <a:custGeom>
              <a:avLst/>
              <a:gdLst/>
              <a:ahLst/>
              <a:cxnLst/>
              <a:rect l="l" t="t" r="r" b="b"/>
              <a:pathLst>
                <a:path w="11874302" h="1050925">
                  <a:moveTo>
                    <a:pt x="0" y="0"/>
                  </a:moveTo>
                  <a:lnTo>
                    <a:pt x="11874302" y="0"/>
                  </a:lnTo>
                  <a:lnTo>
                    <a:pt x="11874302" y="1050925"/>
                  </a:lnTo>
                  <a:lnTo>
                    <a:pt x="0" y="1050925"/>
                  </a:lnTo>
                  <a:close/>
                </a:path>
              </a:pathLst>
            </a:custGeom>
            <a:solidFill>
              <a:srgbClr val="000000">
                <a:alpha val="0"/>
              </a:srgbClr>
            </a:solidFill>
          </p:spPr>
        </p:sp>
        <p:sp>
          <p:nvSpPr>
            <p:cNvPr id="25" name="TextBox 25"/>
            <p:cNvSpPr txBox="1"/>
            <p:nvPr/>
          </p:nvSpPr>
          <p:spPr>
            <a:xfrm>
              <a:off x="0" y="-66675"/>
              <a:ext cx="11874302" cy="1117600"/>
            </a:xfrm>
            <a:prstGeom prst="rect">
              <a:avLst/>
            </a:prstGeom>
          </p:spPr>
          <p:txBody>
            <a:bodyPr lIns="0" tIns="0" rIns="0" bIns="0" rtlCol="0" anchor="t"/>
            <a:lstStyle/>
            <a:p>
              <a:pPr algn="l">
                <a:lnSpc>
                  <a:spcPts val="3062"/>
                </a:lnSpc>
              </a:pPr>
              <a:r>
                <a:rPr lang="en-US" sz="1937">
                  <a:solidFill>
                    <a:srgbClr val="4A4A45"/>
                  </a:solidFill>
                  <a:latin typeface="Lato"/>
                  <a:ea typeface="Lato"/>
                  <a:cs typeface="Lato"/>
                  <a:sym typeface="Lato"/>
                </a:rPr>
                <a:t>Dynamic website content attracts and retains visitors, expanding business opportunities.</a:t>
              </a:r>
            </a:p>
          </p:txBody>
        </p:sp>
      </p:grpSp>
      <p:grpSp>
        <p:nvGrpSpPr>
          <p:cNvPr id="26" name="Group 26"/>
          <p:cNvGrpSpPr/>
          <p:nvPr/>
        </p:nvGrpSpPr>
        <p:grpSpPr>
          <a:xfrm>
            <a:off x="7720012" y="6540996"/>
            <a:ext cx="554087" cy="554087"/>
            <a:chOff x="0" y="0"/>
            <a:chExt cx="738783" cy="738783"/>
          </a:xfrm>
        </p:grpSpPr>
        <p:sp>
          <p:nvSpPr>
            <p:cNvPr id="27" name="Freeform 27"/>
            <p:cNvSpPr/>
            <p:nvPr/>
          </p:nvSpPr>
          <p:spPr>
            <a:xfrm>
              <a:off x="0" y="0"/>
              <a:ext cx="738759" cy="738759"/>
            </a:xfrm>
            <a:custGeom>
              <a:avLst/>
              <a:gdLst/>
              <a:ahLst/>
              <a:cxnLst/>
              <a:rect l="l" t="t" r="r" b="b"/>
              <a:pathLst>
                <a:path w="738759" h="738759">
                  <a:moveTo>
                    <a:pt x="0" y="49276"/>
                  </a:moveTo>
                  <a:cubicBezTo>
                    <a:pt x="0" y="22098"/>
                    <a:pt x="22098" y="0"/>
                    <a:pt x="49276" y="0"/>
                  </a:cubicBezTo>
                  <a:lnTo>
                    <a:pt x="689483" y="0"/>
                  </a:lnTo>
                  <a:cubicBezTo>
                    <a:pt x="716661" y="0"/>
                    <a:pt x="738759" y="22098"/>
                    <a:pt x="738759" y="49276"/>
                  </a:cubicBezTo>
                  <a:lnTo>
                    <a:pt x="738759" y="689483"/>
                  </a:lnTo>
                  <a:cubicBezTo>
                    <a:pt x="738759" y="716661"/>
                    <a:pt x="716661" y="738759"/>
                    <a:pt x="689483" y="738759"/>
                  </a:cubicBezTo>
                  <a:lnTo>
                    <a:pt x="49276" y="738759"/>
                  </a:lnTo>
                  <a:cubicBezTo>
                    <a:pt x="22098" y="738759"/>
                    <a:pt x="0" y="716788"/>
                    <a:pt x="0" y="689483"/>
                  </a:cubicBezTo>
                  <a:close/>
                </a:path>
              </a:pathLst>
            </a:custGeom>
            <a:solidFill>
              <a:srgbClr val="E5DFD2"/>
            </a:solidFill>
          </p:spPr>
        </p:sp>
      </p:grpSp>
      <p:grpSp>
        <p:nvGrpSpPr>
          <p:cNvPr id="28" name="Group 28"/>
          <p:cNvGrpSpPr/>
          <p:nvPr/>
        </p:nvGrpSpPr>
        <p:grpSpPr>
          <a:xfrm>
            <a:off x="8520261" y="6625530"/>
            <a:ext cx="4012704" cy="384870"/>
            <a:chOff x="0" y="0"/>
            <a:chExt cx="5350272" cy="513160"/>
          </a:xfrm>
        </p:grpSpPr>
        <p:sp>
          <p:nvSpPr>
            <p:cNvPr id="29" name="Freeform 29"/>
            <p:cNvSpPr/>
            <p:nvPr/>
          </p:nvSpPr>
          <p:spPr>
            <a:xfrm>
              <a:off x="0" y="0"/>
              <a:ext cx="5350272" cy="513160"/>
            </a:xfrm>
            <a:custGeom>
              <a:avLst/>
              <a:gdLst/>
              <a:ahLst/>
              <a:cxnLst/>
              <a:rect l="l" t="t" r="r" b="b"/>
              <a:pathLst>
                <a:path w="5350272" h="513160">
                  <a:moveTo>
                    <a:pt x="0" y="0"/>
                  </a:moveTo>
                  <a:lnTo>
                    <a:pt x="5350272" y="0"/>
                  </a:lnTo>
                  <a:lnTo>
                    <a:pt x="5350272" y="513160"/>
                  </a:lnTo>
                  <a:lnTo>
                    <a:pt x="0" y="513160"/>
                  </a:lnTo>
                  <a:close/>
                </a:path>
              </a:pathLst>
            </a:custGeom>
            <a:solidFill>
              <a:srgbClr val="000000">
                <a:alpha val="0"/>
              </a:srgbClr>
            </a:solidFill>
          </p:spPr>
        </p:sp>
        <p:sp>
          <p:nvSpPr>
            <p:cNvPr id="30" name="TextBox 30"/>
            <p:cNvSpPr txBox="1"/>
            <p:nvPr/>
          </p:nvSpPr>
          <p:spPr>
            <a:xfrm>
              <a:off x="0" y="-19050"/>
              <a:ext cx="5350272" cy="532210"/>
            </a:xfrm>
            <a:prstGeom prst="rect">
              <a:avLst/>
            </a:prstGeom>
          </p:spPr>
          <p:txBody>
            <a:bodyPr lIns="0" tIns="0" rIns="0" bIns="0" rtlCol="0" anchor="t"/>
            <a:lstStyle/>
            <a:p>
              <a:pPr algn="l">
                <a:lnSpc>
                  <a:spcPts val="3000"/>
                </a:lnSpc>
              </a:pPr>
              <a:r>
                <a:rPr lang="en-US" sz="2375" b="1">
                  <a:solidFill>
                    <a:srgbClr val="4A4A45"/>
                  </a:solidFill>
                  <a:latin typeface="Lato Bold"/>
                  <a:ea typeface="Lato Bold"/>
                  <a:cs typeface="Lato Bold"/>
                  <a:sym typeface="Lato Bold"/>
                </a:rPr>
                <a:t>Enhanced Client Engagement</a:t>
              </a:r>
            </a:p>
          </p:txBody>
        </p:sp>
      </p:grpSp>
      <p:grpSp>
        <p:nvGrpSpPr>
          <p:cNvPr id="31" name="Group 31"/>
          <p:cNvGrpSpPr/>
          <p:nvPr/>
        </p:nvGrpSpPr>
        <p:grpSpPr>
          <a:xfrm>
            <a:off x="8520261" y="7158037"/>
            <a:ext cx="8905726" cy="394097"/>
            <a:chOff x="0" y="0"/>
            <a:chExt cx="11874302" cy="525463"/>
          </a:xfrm>
        </p:grpSpPr>
        <p:sp>
          <p:nvSpPr>
            <p:cNvPr id="32" name="Freeform 32"/>
            <p:cNvSpPr/>
            <p:nvPr/>
          </p:nvSpPr>
          <p:spPr>
            <a:xfrm>
              <a:off x="0" y="0"/>
              <a:ext cx="11874302" cy="525463"/>
            </a:xfrm>
            <a:custGeom>
              <a:avLst/>
              <a:gdLst/>
              <a:ahLst/>
              <a:cxnLst/>
              <a:rect l="l" t="t" r="r" b="b"/>
              <a:pathLst>
                <a:path w="11874302" h="525463">
                  <a:moveTo>
                    <a:pt x="0" y="0"/>
                  </a:moveTo>
                  <a:lnTo>
                    <a:pt x="11874302" y="0"/>
                  </a:lnTo>
                  <a:lnTo>
                    <a:pt x="11874302" y="525463"/>
                  </a:lnTo>
                  <a:lnTo>
                    <a:pt x="0" y="525463"/>
                  </a:lnTo>
                  <a:close/>
                </a:path>
              </a:pathLst>
            </a:custGeom>
            <a:solidFill>
              <a:srgbClr val="000000">
                <a:alpha val="0"/>
              </a:srgbClr>
            </a:solidFill>
          </p:spPr>
        </p:sp>
        <p:sp>
          <p:nvSpPr>
            <p:cNvPr id="33" name="TextBox 33"/>
            <p:cNvSpPr txBox="1"/>
            <p:nvPr/>
          </p:nvSpPr>
          <p:spPr>
            <a:xfrm>
              <a:off x="0" y="-66675"/>
              <a:ext cx="11874302" cy="592138"/>
            </a:xfrm>
            <a:prstGeom prst="rect">
              <a:avLst/>
            </a:prstGeom>
          </p:spPr>
          <p:txBody>
            <a:bodyPr lIns="0" tIns="0" rIns="0" bIns="0" rtlCol="0" anchor="t"/>
            <a:lstStyle/>
            <a:p>
              <a:pPr algn="l">
                <a:lnSpc>
                  <a:spcPts val="3062"/>
                </a:lnSpc>
              </a:pPr>
              <a:r>
                <a:rPr lang="en-US" sz="1937">
                  <a:solidFill>
                    <a:srgbClr val="4A4A45"/>
                  </a:solidFill>
                  <a:latin typeface="Lato"/>
                  <a:ea typeface="Lato"/>
                  <a:cs typeface="Lato"/>
                  <a:sym typeface="Lato"/>
                </a:rPr>
                <a:t>Authentic testimonials and updated projects build trust and brand loyalty.</a:t>
              </a:r>
            </a:p>
          </p:txBody>
        </p:sp>
      </p:grpSp>
      <p:grpSp>
        <p:nvGrpSpPr>
          <p:cNvPr id="34" name="Group 34"/>
          <p:cNvGrpSpPr/>
          <p:nvPr/>
        </p:nvGrpSpPr>
        <p:grpSpPr>
          <a:xfrm>
            <a:off x="7720012" y="8044606"/>
            <a:ext cx="554087" cy="554087"/>
            <a:chOff x="0" y="0"/>
            <a:chExt cx="738783" cy="738783"/>
          </a:xfrm>
        </p:grpSpPr>
        <p:sp>
          <p:nvSpPr>
            <p:cNvPr id="35" name="Freeform 35"/>
            <p:cNvSpPr/>
            <p:nvPr/>
          </p:nvSpPr>
          <p:spPr>
            <a:xfrm>
              <a:off x="0" y="0"/>
              <a:ext cx="738759" cy="738759"/>
            </a:xfrm>
            <a:custGeom>
              <a:avLst/>
              <a:gdLst/>
              <a:ahLst/>
              <a:cxnLst/>
              <a:rect l="l" t="t" r="r" b="b"/>
              <a:pathLst>
                <a:path w="738759" h="738759">
                  <a:moveTo>
                    <a:pt x="0" y="49276"/>
                  </a:moveTo>
                  <a:cubicBezTo>
                    <a:pt x="0" y="22098"/>
                    <a:pt x="22098" y="0"/>
                    <a:pt x="49276" y="0"/>
                  </a:cubicBezTo>
                  <a:lnTo>
                    <a:pt x="689483" y="0"/>
                  </a:lnTo>
                  <a:cubicBezTo>
                    <a:pt x="716661" y="0"/>
                    <a:pt x="738759" y="22098"/>
                    <a:pt x="738759" y="49276"/>
                  </a:cubicBezTo>
                  <a:lnTo>
                    <a:pt x="738759" y="689483"/>
                  </a:lnTo>
                  <a:cubicBezTo>
                    <a:pt x="738759" y="716661"/>
                    <a:pt x="716661" y="738759"/>
                    <a:pt x="689483" y="738759"/>
                  </a:cubicBezTo>
                  <a:lnTo>
                    <a:pt x="49276" y="738759"/>
                  </a:lnTo>
                  <a:cubicBezTo>
                    <a:pt x="22098" y="738759"/>
                    <a:pt x="0" y="716788"/>
                    <a:pt x="0" y="689483"/>
                  </a:cubicBezTo>
                  <a:close/>
                </a:path>
              </a:pathLst>
            </a:custGeom>
            <a:solidFill>
              <a:srgbClr val="E5DFD2"/>
            </a:solidFill>
          </p:spPr>
        </p:sp>
      </p:grpSp>
      <p:grpSp>
        <p:nvGrpSpPr>
          <p:cNvPr id="36" name="Group 36"/>
          <p:cNvGrpSpPr/>
          <p:nvPr/>
        </p:nvGrpSpPr>
        <p:grpSpPr>
          <a:xfrm>
            <a:off x="8520261" y="8129141"/>
            <a:ext cx="3078510" cy="384870"/>
            <a:chOff x="0" y="0"/>
            <a:chExt cx="4104680" cy="513160"/>
          </a:xfrm>
        </p:grpSpPr>
        <p:sp>
          <p:nvSpPr>
            <p:cNvPr id="37" name="Freeform 37"/>
            <p:cNvSpPr/>
            <p:nvPr/>
          </p:nvSpPr>
          <p:spPr>
            <a:xfrm>
              <a:off x="0" y="0"/>
              <a:ext cx="4104680" cy="513160"/>
            </a:xfrm>
            <a:custGeom>
              <a:avLst/>
              <a:gdLst/>
              <a:ahLst/>
              <a:cxnLst/>
              <a:rect l="l" t="t" r="r" b="b"/>
              <a:pathLst>
                <a:path w="4104680" h="513160">
                  <a:moveTo>
                    <a:pt x="0" y="0"/>
                  </a:moveTo>
                  <a:lnTo>
                    <a:pt x="4104680" y="0"/>
                  </a:lnTo>
                  <a:lnTo>
                    <a:pt x="4104680" y="513160"/>
                  </a:lnTo>
                  <a:lnTo>
                    <a:pt x="0" y="513160"/>
                  </a:lnTo>
                  <a:close/>
                </a:path>
              </a:pathLst>
            </a:custGeom>
            <a:solidFill>
              <a:srgbClr val="000000">
                <a:alpha val="0"/>
              </a:srgbClr>
            </a:solidFill>
          </p:spPr>
        </p:sp>
        <p:sp>
          <p:nvSpPr>
            <p:cNvPr id="38" name="TextBox 38"/>
            <p:cNvSpPr txBox="1"/>
            <p:nvPr/>
          </p:nvSpPr>
          <p:spPr>
            <a:xfrm>
              <a:off x="0" y="-19050"/>
              <a:ext cx="4104680" cy="532210"/>
            </a:xfrm>
            <a:prstGeom prst="rect">
              <a:avLst/>
            </a:prstGeom>
          </p:spPr>
          <p:txBody>
            <a:bodyPr lIns="0" tIns="0" rIns="0" bIns="0" rtlCol="0" anchor="t"/>
            <a:lstStyle/>
            <a:p>
              <a:pPr algn="l">
                <a:lnSpc>
                  <a:spcPts val="3000"/>
                </a:lnSpc>
              </a:pPr>
              <a:r>
                <a:rPr lang="en-US" sz="2375" b="1">
                  <a:solidFill>
                    <a:srgbClr val="4A4A45"/>
                  </a:solidFill>
                  <a:latin typeface="Lato Bold"/>
                  <a:ea typeface="Lato Bold"/>
                  <a:cs typeface="Lato Bold"/>
                  <a:sym typeface="Lato Bold"/>
                </a:rPr>
                <a:t>Scalability</a:t>
              </a:r>
            </a:p>
          </p:txBody>
        </p:sp>
      </p:grpSp>
      <p:grpSp>
        <p:nvGrpSpPr>
          <p:cNvPr id="39" name="Group 39"/>
          <p:cNvGrpSpPr/>
          <p:nvPr/>
        </p:nvGrpSpPr>
        <p:grpSpPr>
          <a:xfrm>
            <a:off x="8520261" y="8661648"/>
            <a:ext cx="8905726" cy="394097"/>
            <a:chOff x="0" y="0"/>
            <a:chExt cx="11874302" cy="525463"/>
          </a:xfrm>
        </p:grpSpPr>
        <p:sp>
          <p:nvSpPr>
            <p:cNvPr id="40" name="Freeform 40"/>
            <p:cNvSpPr/>
            <p:nvPr/>
          </p:nvSpPr>
          <p:spPr>
            <a:xfrm>
              <a:off x="0" y="0"/>
              <a:ext cx="11874302" cy="525463"/>
            </a:xfrm>
            <a:custGeom>
              <a:avLst/>
              <a:gdLst/>
              <a:ahLst/>
              <a:cxnLst/>
              <a:rect l="l" t="t" r="r" b="b"/>
              <a:pathLst>
                <a:path w="11874302" h="525463">
                  <a:moveTo>
                    <a:pt x="0" y="0"/>
                  </a:moveTo>
                  <a:lnTo>
                    <a:pt x="11874302" y="0"/>
                  </a:lnTo>
                  <a:lnTo>
                    <a:pt x="11874302" y="525463"/>
                  </a:lnTo>
                  <a:lnTo>
                    <a:pt x="0" y="525463"/>
                  </a:lnTo>
                  <a:close/>
                </a:path>
              </a:pathLst>
            </a:custGeom>
            <a:solidFill>
              <a:srgbClr val="000000">
                <a:alpha val="0"/>
              </a:srgbClr>
            </a:solidFill>
          </p:spPr>
        </p:sp>
        <p:sp>
          <p:nvSpPr>
            <p:cNvPr id="41" name="TextBox 41"/>
            <p:cNvSpPr txBox="1"/>
            <p:nvPr/>
          </p:nvSpPr>
          <p:spPr>
            <a:xfrm>
              <a:off x="0" y="-66675"/>
              <a:ext cx="11874302" cy="592138"/>
            </a:xfrm>
            <a:prstGeom prst="rect">
              <a:avLst/>
            </a:prstGeom>
          </p:spPr>
          <p:txBody>
            <a:bodyPr lIns="0" tIns="0" rIns="0" bIns="0" rtlCol="0" anchor="t"/>
            <a:lstStyle/>
            <a:p>
              <a:pPr algn="l">
                <a:lnSpc>
                  <a:spcPts val="3062"/>
                </a:lnSpc>
              </a:pPr>
              <a:r>
                <a:rPr lang="en-US" sz="1937">
                  <a:solidFill>
                    <a:srgbClr val="4A4A45"/>
                  </a:solidFill>
                  <a:latin typeface="Lato"/>
                  <a:ea typeface="Lato"/>
                  <a:cs typeface="Lato"/>
                  <a:sym typeface="Lato"/>
                </a:rPr>
                <a:t>The system supports company growth with flexible content and user management.</a:t>
              </a:r>
            </a:p>
          </p:txBody>
        </p:sp>
      </p:gr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DDD6CC"/>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FECE6"/>
            </a:solidFill>
          </p:spPr>
        </p:sp>
      </p:grpSp>
      <p:sp>
        <p:nvSpPr>
          <p:cNvPr id="6" name="Freeform 6" descr="preencoded.png">
            <a:hlinkClick r:id="rId3" tooltip="https://gamma.app/?utm_source=made-with-gamma"/>
          </p:cNvPr>
          <p:cNvSpPr/>
          <p:nvPr/>
        </p:nvSpPr>
        <p:spPr>
          <a:xfrm>
            <a:off x="16049019" y="9686925"/>
            <a:ext cx="2153256" cy="514350"/>
          </a:xfrm>
          <a:custGeom>
            <a:avLst/>
            <a:gdLst/>
            <a:ahLst/>
            <a:cxnLst/>
            <a:rect l="l" t="t" r="r" b="b"/>
            <a:pathLst>
              <a:path w="2153256" h="514350">
                <a:moveTo>
                  <a:pt x="0" y="0"/>
                </a:moveTo>
                <a:lnTo>
                  <a:pt x="2153256" y="0"/>
                </a:lnTo>
                <a:lnTo>
                  <a:pt x="2153256" y="514350"/>
                </a:lnTo>
                <a:lnTo>
                  <a:pt x="0" y="514350"/>
                </a:lnTo>
                <a:lnTo>
                  <a:pt x="0" y="0"/>
                </a:lnTo>
                <a:close/>
              </a:path>
            </a:pathLst>
          </a:custGeom>
          <a:blipFill>
            <a:blip r:embed="rId4"/>
            <a:stretch>
              <a:fillRect/>
            </a:stretch>
          </a:blipFill>
        </p:spPr>
      </p:sp>
      <p:sp>
        <p:nvSpPr>
          <p:cNvPr id="7" name="Freeform 7" descr="preencoded.png"/>
          <p:cNvSpPr/>
          <p:nvPr/>
        </p:nvSpPr>
        <p:spPr>
          <a:xfrm>
            <a:off x="11430000" y="0"/>
            <a:ext cx="6858000" cy="10287000"/>
          </a:xfrm>
          <a:custGeom>
            <a:avLst/>
            <a:gdLst/>
            <a:ahLst/>
            <a:cxnLst/>
            <a:rect l="l" t="t" r="r" b="b"/>
            <a:pathLst>
              <a:path w="6858000" h="10287000">
                <a:moveTo>
                  <a:pt x="0" y="0"/>
                </a:moveTo>
                <a:lnTo>
                  <a:pt x="6858000" y="0"/>
                </a:lnTo>
                <a:lnTo>
                  <a:pt x="6858000" y="10287000"/>
                </a:lnTo>
                <a:lnTo>
                  <a:pt x="0" y="10287000"/>
                </a:lnTo>
                <a:lnTo>
                  <a:pt x="0" y="0"/>
                </a:lnTo>
                <a:close/>
              </a:path>
            </a:pathLst>
          </a:custGeom>
          <a:blipFill>
            <a:blip r:embed="rId5"/>
            <a:stretch>
              <a:fillRect/>
            </a:stretch>
          </a:blipFill>
        </p:spPr>
      </p:sp>
      <p:grpSp>
        <p:nvGrpSpPr>
          <p:cNvPr id="8" name="Group 8"/>
          <p:cNvGrpSpPr/>
          <p:nvPr/>
        </p:nvGrpSpPr>
        <p:grpSpPr>
          <a:xfrm>
            <a:off x="992238" y="1833414"/>
            <a:ext cx="7088237" cy="885974"/>
            <a:chOff x="0" y="0"/>
            <a:chExt cx="9450983" cy="1181298"/>
          </a:xfrm>
        </p:grpSpPr>
        <p:sp>
          <p:nvSpPr>
            <p:cNvPr id="9" name="Freeform 9"/>
            <p:cNvSpPr/>
            <p:nvPr/>
          </p:nvSpPr>
          <p:spPr>
            <a:xfrm>
              <a:off x="0" y="0"/>
              <a:ext cx="9450984" cy="1181298"/>
            </a:xfrm>
            <a:custGeom>
              <a:avLst/>
              <a:gdLst/>
              <a:ahLst/>
              <a:cxnLst/>
              <a:rect l="l" t="t" r="r" b="b"/>
              <a:pathLst>
                <a:path w="9450984" h="1181298">
                  <a:moveTo>
                    <a:pt x="0" y="0"/>
                  </a:moveTo>
                  <a:lnTo>
                    <a:pt x="9450984" y="0"/>
                  </a:lnTo>
                  <a:lnTo>
                    <a:pt x="9450984" y="1181298"/>
                  </a:lnTo>
                  <a:lnTo>
                    <a:pt x="0" y="1181298"/>
                  </a:lnTo>
                  <a:close/>
                </a:path>
              </a:pathLst>
            </a:custGeom>
            <a:solidFill>
              <a:srgbClr val="000000">
                <a:alpha val="0"/>
              </a:srgbClr>
            </a:solidFill>
          </p:spPr>
        </p:sp>
        <p:sp>
          <p:nvSpPr>
            <p:cNvPr id="10" name="TextBox 10"/>
            <p:cNvSpPr txBox="1"/>
            <p:nvPr/>
          </p:nvSpPr>
          <p:spPr>
            <a:xfrm>
              <a:off x="0" y="-38100"/>
              <a:ext cx="9450983" cy="1219398"/>
            </a:xfrm>
            <a:prstGeom prst="rect">
              <a:avLst/>
            </a:prstGeom>
          </p:spPr>
          <p:txBody>
            <a:bodyPr lIns="0" tIns="0" rIns="0" bIns="0" rtlCol="0" anchor="t"/>
            <a:lstStyle/>
            <a:p>
              <a:pPr algn="l">
                <a:lnSpc>
                  <a:spcPts val="6937"/>
                </a:lnSpc>
              </a:pPr>
              <a:r>
                <a:rPr lang="en-US" sz="5562" b="1">
                  <a:solidFill>
                    <a:srgbClr val="282824"/>
                  </a:solidFill>
                  <a:latin typeface="Lato Bold"/>
                  <a:ea typeface="Lato Bold"/>
                  <a:cs typeface="Lato Bold"/>
                  <a:sym typeface="Lato Bold"/>
                </a:rPr>
                <a:t>Conclusion</a:t>
              </a:r>
            </a:p>
          </p:txBody>
        </p:sp>
      </p:grpSp>
      <p:grpSp>
        <p:nvGrpSpPr>
          <p:cNvPr id="11" name="Group 11"/>
          <p:cNvGrpSpPr/>
          <p:nvPr/>
        </p:nvGrpSpPr>
        <p:grpSpPr>
          <a:xfrm>
            <a:off x="992238" y="3144590"/>
            <a:ext cx="9445526" cy="3629025"/>
            <a:chOff x="0" y="0"/>
            <a:chExt cx="12594035" cy="4838700"/>
          </a:xfrm>
        </p:grpSpPr>
        <p:sp>
          <p:nvSpPr>
            <p:cNvPr id="12" name="Freeform 12"/>
            <p:cNvSpPr/>
            <p:nvPr/>
          </p:nvSpPr>
          <p:spPr>
            <a:xfrm>
              <a:off x="0" y="0"/>
              <a:ext cx="12594035" cy="4838700"/>
            </a:xfrm>
            <a:custGeom>
              <a:avLst/>
              <a:gdLst/>
              <a:ahLst/>
              <a:cxnLst/>
              <a:rect l="l" t="t" r="r" b="b"/>
              <a:pathLst>
                <a:path w="12594035" h="4838700">
                  <a:moveTo>
                    <a:pt x="0" y="0"/>
                  </a:moveTo>
                  <a:lnTo>
                    <a:pt x="12594035" y="0"/>
                  </a:lnTo>
                  <a:lnTo>
                    <a:pt x="12594035" y="4838700"/>
                  </a:lnTo>
                  <a:lnTo>
                    <a:pt x="0" y="4838700"/>
                  </a:lnTo>
                  <a:close/>
                </a:path>
              </a:pathLst>
            </a:custGeom>
            <a:solidFill>
              <a:srgbClr val="000000">
                <a:alpha val="0"/>
              </a:srgbClr>
            </a:solidFill>
          </p:spPr>
        </p:sp>
        <p:sp>
          <p:nvSpPr>
            <p:cNvPr id="13" name="TextBox 13"/>
            <p:cNvSpPr txBox="1"/>
            <p:nvPr/>
          </p:nvSpPr>
          <p:spPr>
            <a:xfrm>
              <a:off x="0" y="-95250"/>
              <a:ext cx="12594035" cy="4933950"/>
            </a:xfrm>
            <a:prstGeom prst="rect">
              <a:avLst/>
            </a:prstGeom>
          </p:spPr>
          <p:txBody>
            <a:bodyPr lIns="0" tIns="0" rIns="0" bIns="0" rtlCol="0" anchor="t"/>
            <a:lstStyle/>
            <a:p>
              <a:pPr algn="l">
                <a:lnSpc>
                  <a:spcPts val="3562"/>
                </a:lnSpc>
              </a:pPr>
              <a:r>
                <a:rPr lang="en-US" sz="2187">
                  <a:solidFill>
                    <a:srgbClr val="4A4A45"/>
                  </a:solidFill>
                  <a:latin typeface="Lato"/>
                  <a:ea typeface="Lato"/>
                  <a:cs typeface="Lato"/>
                  <a:sym typeface="Lato"/>
                </a:rPr>
                <a:t>The Construction Dynamic Project redefines construction company management by combining a powerful admin dashboard and an engaging frontend experience. It resolves inefficiencies with centralized control and dynamic content, attracting visitors and clients effectively. Embracing modern technologies, the system scales with company growth and enriches online presence. With streamlined workflows and vivid storytelling, this solution empowers construction businesses to stand out in a competitive market and manage projects with confidence.</a:t>
              </a:r>
            </a:p>
          </p:txBody>
        </p:sp>
      </p:grpSp>
      <p:grpSp>
        <p:nvGrpSpPr>
          <p:cNvPr id="14" name="Group 14"/>
          <p:cNvGrpSpPr/>
          <p:nvPr/>
        </p:nvGrpSpPr>
        <p:grpSpPr>
          <a:xfrm>
            <a:off x="992238" y="7092552"/>
            <a:ext cx="9445526" cy="1360885"/>
            <a:chOff x="0" y="0"/>
            <a:chExt cx="12594035" cy="1814513"/>
          </a:xfrm>
        </p:grpSpPr>
        <p:sp>
          <p:nvSpPr>
            <p:cNvPr id="15" name="Freeform 15"/>
            <p:cNvSpPr/>
            <p:nvPr/>
          </p:nvSpPr>
          <p:spPr>
            <a:xfrm>
              <a:off x="0" y="0"/>
              <a:ext cx="12594035" cy="1814513"/>
            </a:xfrm>
            <a:custGeom>
              <a:avLst/>
              <a:gdLst/>
              <a:ahLst/>
              <a:cxnLst/>
              <a:rect l="l" t="t" r="r" b="b"/>
              <a:pathLst>
                <a:path w="12594035" h="1814513">
                  <a:moveTo>
                    <a:pt x="0" y="0"/>
                  </a:moveTo>
                  <a:lnTo>
                    <a:pt x="12594035" y="0"/>
                  </a:lnTo>
                  <a:lnTo>
                    <a:pt x="12594035" y="1814513"/>
                  </a:lnTo>
                  <a:lnTo>
                    <a:pt x="0" y="1814513"/>
                  </a:lnTo>
                  <a:close/>
                </a:path>
              </a:pathLst>
            </a:custGeom>
            <a:solidFill>
              <a:srgbClr val="000000">
                <a:alpha val="0"/>
              </a:srgbClr>
            </a:solidFill>
          </p:spPr>
        </p:sp>
        <p:sp>
          <p:nvSpPr>
            <p:cNvPr id="16" name="TextBox 16"/>
            <p:cNvSpPr txBox="1"/>
            <p:nvPr/>
          </p:nvSpPr>
          <p:spPr>
            <a:xfrm>
              <a:off x="0" y="-95250"/>
              <a:ext cx="12594035" cy="1909763"/>
            </a:xfrm>
            <a:prstGeom prst="rect">
              <a:avLst/>
            </a:prstGeom>
          </p:spPr>
          <p:txBody>
            <a:bodyPr lIns="0" tIns="0" rIns="0" bIns="0" rtlCol="0" anchor="t"/>
            <a:lstStyle/>
            <a:p>
              <a:pPr algn="l">
                <a:lnSpc>
                  <a:spcPts val="3562"/>
                </a:lnSpc>
              </a:pPr>
              <a:r>
                <a:rPr lang="en-US" sz="2187">
                  <a:solidFill>
                    <a:srgbClr val="4A4A45"/>
                  </a:solidFill>
                  <a:latin typeface="Lato"/>
                  <a:ea typeface="Lato"/>
                  <a:cs typeface="Lato"/>
                  <a:sym typeface="Lato"/>
                </a:rPr>
                <a:t>Next steps include further user feedback integration, mobile-specific enhancements, and expanding integrations with third-party tools for comprehensive utility.</a:t>
              </a:r>
            </a:p>
          </p:txBody>
        </p:sp>
      </p:gr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ulent">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Opulent</Template>
  <TotalTime>36</TotalTime>
  <Words>757</Words>
  <Application>Microsoft Office PowerPoint</Application>
  <PresentationFormat>Custom</PresentationFormat>
  <Paragraphs>114</Paragraphs>
  <Slides>12</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Lato Bold</vt:lpstr>
      <vt:lpstr>Trebuchet MS</vt:lpstr>
      <vt:lpstr>Wingdings 2</vt:lpstr>
      <vt:lpstr>Lato</vt:lpstr>
      <vt:lpstr>Calibri</vt:lpstr>
      <vt:lpstr>Wingdings</vt:lpstr>
      <vt:lpstr>Opulent</vt:lpstr>
      <vt:lpstr>Project presentation on Construction Dynamic Project</vt:lpstr>
      <vt:lpstr>CONTENT</vt:lpstr>
      <vt:lpstr>Slide 3</vt:lpstr>
      <vt:lpstr>Slide 4</vt:lpstr>
      <vt:lpstr>Slide 5</vt:lpstr>
      <vt:lpstr>Slide 6</vt:lpstr>
      <vt:lpstr>Slide 7</vt:lpstr>
      <vt:lpstr>Slide 8</vt:lpstr>
      <vt:lpstr>Slide 9</vt:lpstr>
      <vt:lpstr>Slide 10</vt:lpstr>
      <vt:lpstr>Slide 11</vt:lpstr>
      <vt:lpstr>Slide 12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Construction-Dynamic-Project-Overview.pptx</dc:title>
  <dc:creator>Mohammed Shayeeb</dc:creator>
  <cp:lastModifiedBy>Shuaib</cp:lastModifiedBy>
  <cp:revision>8</cp:revision>
  <dcterms:created xsi:type="dcterms:W3CDTF">2006-08-16T00:00:00Z</dcterms:created>
  <dcterms:modified xsi:type="dcterms:W3CDTF">2025-05-19T06:02:11Z</dcterms:modified>
  <dc:identifier>DAGnzVvdtBc</dc:identifier>
</cp:coreProperties>
</file>